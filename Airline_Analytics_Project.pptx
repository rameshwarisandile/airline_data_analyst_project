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8"/>
  </p:notesMasterIdLst>
  <p:sldIdLst>
    <p:sldId id="256" r:id="rId2"/>
    <p:sldId id="288" r:id="rId3"/>
    <p:sldId id="293" r:id="rId4"/>
    <p:sldId id="292" r:id="rId5"/>
    <p:sldId id="287" r:id="rId6"/>
    <p:sldId id="286" r:id="rId7"/>
    <p:sldId id="259" r:id="rId8"/>
    <p:sldId id="291" r:id="rId9"/>
    <p:sldId id="290" r:id="rId10"/>
    <p:sldId id="28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5" r:id="rId34"/>
    <p:sldId id="284" r:id="rId35"/>
    <p:sldId id="282" r:id="rId36"/>
    <p:sldId id="283" r:id="rId37"/>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6381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8629650" y="478417"/>
            <a:ext cx="0" cy="4179308"/>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522249" y="576693"/>
            <a:ext cx="0" cy="360045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4127898" y="1015604"/>
            <a:ext cx="3992165" cy="3361134"/>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85800" y="623994"/>
            <a:ext cx="4423410" cy="3194217"/>
          </a:xfrm>
          <a:solidFill>
            <a:schemeClr val="bg2"/>
          </a:solidFill>
        </p:spPr>
        <p:txBody>
          <a:bodyPr lIns="182880" rIns="228600" bIns="91440" anchor="b">
            <a:normAutofit/>
          </a:bodyPr>
          <a:lstStyle>
            <a:lvl1pPr algn="r">
              <a:lnSpc>
                <a:spcPct val="80000"/>
              </a:lnSpc>
              <a:defRPr sz="54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454073" y="4029607"/>
            <a:ext cx="1773710" cy="681839"/>
          </a:xfrm>
          <a:solidFill>
            <a:schemeClr val="bg2"/>
          </a:solidFill>
        </p:spPr>
        <p:txBody>
          <a:bodyPr vert="horz" lIns="91440" tIns="45720" rIns="91440" bIns="45720" rtlCol="0" anchor="b">
            <a:normAutofit/>
          </a:bodyPr>
          <a:lstStyle>
            <a:lvl1pPr marL="0" indent="0">
              <a:lnSpc>
                <a:spcPct val="100000"/>
              </a:lnSpc>
              <a:buNone/>
              <a:defRPr lang="en-US" sz="12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7160647" y="459189"/>
            <a:ext cx="1552798" cy="389224"/>
          </a:xfrm>
          <a:solidFill>
            <a:schemeClr val="bg2"/>
          </a:solidFill>
        </p:spPr>
        <p:txBody>
          <a:bodyPr anchor="t"/>
          <a:lstStyle>
            <a:lvl1pPr algn="r">
              <a:defRPr sz="788"/>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8172995" y="3922452"/>
            <a:ext cx="917846" cy="273844"/>
          </a:xfrm>
          <a:solidFill>
            <a:schemeClr val="bg2"/>
          </a:solidFill>
        </p:spPr>
        <p:txBody>
          <a:bodyPr rIns="182880"/>
          <a:lstStyle/>
          <a:p>
            <a:fld id="{F695BADC-4FD4-44DC-8CD5-A8F9C57A8D9D}" type="datetime1">
              <a:rPr lang="en-US" smtClean="0"/>
              <a:t>10/5/2026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8401050" y="4522400"/>
            <a:ext cx="346079" cy="273844"/>
          </a:xfrm>
          <a:solidFill>
            <a:schemeClr val="bg2"/>
          </a:solidFill>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68223735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52240" y="199297"/>
            <a:ext cx="8235853" cy="99417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52240" y="1302133"/>
            <a:ext cx="8235853" cy="314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172392247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8627171" y="817798"/>
            <a:ext cx="0" cy="329700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593" y="1028700"/>
            <a:ext cx="5029794" cy="41148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3100387" y="514350"/>
            <a:ext cx="4780253" cy="2057401"/>
          </a:xfrm>
          <a:solidFill>
            <a:schemeClr val="bg2"/>
          </a:solidFill>
        </p:spPr>
        <p:txBody>
          <a:bodyPr vert="horz" lIns="182880" tIns="45720" rIns="91440" bIns="91440" rtlCol="0" anchor="b">
            <a:normAutofit/>
          </a:bodyPr>
          <a:lstStyle>
            <a:lvl1pPr>
              <a:lnSpc>
                <a:spcPct val="80000"/>
              </a:lnSpc>
              <a:defRPr lang="en-US" sz="51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625343" y="4177717"/>
            <a:ext cx="3086099" cy="524639"/>
          </a:xfrm>
        </p:spPr>
        <p:txBody>
          <a:bodyPr vert="horz" lIns="91440" tIns="45720" rIns="91440" bIns="45720" rtlCol="0" anchor="b">
            <a:normAutofit/>
          </a:bodyPr>
          <a:lstStyle>
            <a:lvl1pPr marL="0" indent="0" algn="r">
              <a:buNone/>
              <a:defRPr lang="en-US" sz="12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09287" y="381063"/>
            <a:ext cx="322029" cy="273844"/>
          </a:xfrm>
          <a:noFill/>
        </p:spPr>
        <p:txBody>
          <a:bodyPr/>
          <a:lstStyle/>
          <a:p>
            <a:pPr algn="l"/>
            <a:fld id="{F7021451-1387-4CA6-816F-3879F97B5CBC}" type="slidenum">
              <a:rPr lang="en-US" b="0"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452747" y="381063"/>
            <a:ext cx="902490" cy="273844"/>
          </a:xfrm>
          <a:solidFill>
            <a:schemeClr val="bg2"/>
          </a:solidFill>
        </p:spPr>
        <p:txBody>
          <a:bodyPr/>
          <a:lstStyle>
            <a:lvl1pPr algn="l">
              <a:defRPr/>
            </a:lvl1pPr>
          </a:lstStyle>
          <a:p>
            <a:fld id="{D666FC17-48E9-4EB3-BB0E-C81F4FBF1D65}" type="datetime1">
              <a:rPr lang="en-US" smtClean="0"/>
              <a:t>10/5/2026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7600952" y="459047"/>
            <a:ext cx="1115472" cy="358751"/>
          </a:xfrm>
          <a:solidFill>
            <a:schemeClr val="bg2"/>
          </a:solidFill>
        </p:spPr>
        <p:txBody>
          <a:bodyPr anchor="t"/>
          <a:lstStyle>
            <a:lvl1pPr algn="r">
              <a:defRPr sz="788"/>
            </a:lvl1pPr>
          </a:lstStyle>
          <a:p>
            <a:r>
              <a:rPr lang="en-US"/>
              <a:t>Sample Footer Text</a:t>
            </a:r>
          </a:p>
        </p:txBody>
      </p:sp>
    </p:spTree>
    <p:extLst>
      <p:ext uri="{BB962C8B-B14F-4D97-AF65-F5344CB8AC3E}">
        <p14:creationId xmlns:p14="http://schemas.microsoft.com/office/powerpoint/2010/main" val="189172899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8627171" y="775185"/>
            <a:ext cx="0" cy="3600219"/>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02869" y="253746"/>
            <a:ext cx="6126480" cy="3346704"/>
          </a:xfrm>
          <a:noFill/>
        </p:spPr>
        <p:txBody>
          <a:bodyPr vert="horz" lIns="91440" tIns="45720" rIns="91440" bIns="137160" rtlCol="0" anchor="t">
            <a:normAutofit/>
          </a:bodyPr>
          <a:lstStyle>
            <a:lvl1pPr>
              <a:lnSpc>
                <a:spcPct val="80000"/>
              </a:lnSpc>
              <a:defRPr lang="en-US" sz="7200" spc="-75"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400800" y="3566047"/>
            <a:ext cx="2313331" cy="810227"/>
          </a:xfrm>
          <a:solidFill>
            <a:schemeClr val="bg2"/>
          </a:solidFill>
        </p:spPr>
        <p:txBody>
          <a:bodyPr vert="horz" lIns="91440" tIns="45720" rIns="91440" bIns="45720" rtlCol="0" anchor="b">
            <a:normAutofit/>
          </a:bodyPr>
          <a:lstStyle>
            <a:lvl1pPr marL="0" indent="0" algn="r">
              <a:buNone/>
              <a:defRPr lang="en-US" sz="1200" cap="all" spc="75"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6858001" y="335685"/>
            <a:ext cx="1858424" cy="439501"/>
          </a:xfrm>
          <a:noFill/>
        </p:spPr>
        <p:txBody>
          <a:bodyPr/>
          <a:lstStyle>
            <a:lvl1pPr algn="r">
              <a:defRPr sz="788"/>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1">
              <a:rPr lang="en-US" smtClean="0"/>
              <a:t>10/5/2026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66865481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9144000" cy="51435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694723" y="4629139"/>
            <a:ext cx="7745068"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96012" y="274320"/>
            <a:ext cx="8651093" cy="4144240"/>
          </a:xfrm>
          <a:noFill/>
        </p:spPr>
        <p:txBody>
          <a:bodyPr anchor="t">
            <a:normAutofit/>
          </a:bodyPr>
          <a:lstStyle>
            <a:lvl1pPr>
              <a:defRPr sz="8625"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1">
              <a:rPr lang="en-US" smtClean="0"/>
              <a:t>10/5/2026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35734839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9143997" cy="51435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991429" y="514350"/>
            <a:ext cx="7638221"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3543303" y="1532928"/>
            <a:ext cx="5600698" cy="36105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054631" y="2040297"/>
            <a:ext cx="4234067" cy="1870732"/>
          </a:xfrm>
          <a:solidFill>
            <a:schemeClr val="bg2">
              <a:lumMod val="90000"/>
            </a:schemeClr>
          </a:solidFill>
        </p:spPr>
        <p:txBody>
          <a:bodyPr vert="horz" lIns="91440" tIns="45720" rIns="91440" bIns="137160" rtlCol="0" anchor="t">
            <a:normAutofit/>
          </a:bodyPr>
          <a:lstStyle>
            <a:lvl1pPr>
              <a:defRPr lang="en-US" sz="9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39808" y="427382"/>
            <a:ext cx="1103244" cy="406274"/>
          </a:xfrm>
          <a:solidFill>
            <a:schemeClr val="bg2">
              <a:lumMod val="90000"/>
            </a:schemeClr>
          </a:solidFill>
        </p:spPr>
        <p:txBody>
          <a:bodyPr anchor="t"/>
          <a:lstStyle>
            <a:lvl1pPr algn="l">
              <a:defRPr sz="788"/>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057649" y="2057401"/>
            <a:ext cx="4572001" cy="2600324"/>
          </a:xfrm>
        </p:spPr>
        <p:txBody>
          <a:bodyPr>
            <a:normAutofit/>
          </a:bodyPr>
          <a:lstStyle>
            <a:lvl1pPr marL="257175" indent="-257175">
              <a:buClr>
                <a:schemeClr val="accent2"/>
              </a:buClr>
              <a:buFont typeface="+mj-lt"/>
              <a:buAutoNum type="arabicPeriod"/>
              <a:defRPr sz="1350"/>
            </a:lvl1pPr>
            <a:lvl2pPr marL="600075" indent="-257175">
              <a:buClr>
                <a:schemeClr val="accent2"/>
              </a:buClr>
              <a:buFont typeface="+mj-lt"/>
              <a:buAutoNum type="arabicPeriod"/>
              <a:defRPr sz="1200"/>
            </a:lvl2pPr>
            <a:lvl3pPr marL="942975" indent="-257175">
              <a:buClr>
                <a:schemeClr val="accent2"/>
              </a:buClr>
              <a:buFont typeface="+mj-lt"/>
              <a:buAutoNum type="arabicPeriod"/>
              <a:defRPr sz="1050"/>
            </a:lvl3pPr>
            <a:lvl4pPr>
              <a:buClr>
                <a:schemeClr val="accent2"/>
              </a:buClr>
              <a:buFont typeface="+mj-lt"/>
              <a:buAutoNum type="arabicPeriod"/>
              <a:defRPr sz="900"/>
            </a:lvl4pPr>
            <a:lvl5pPr>
              <a:buClr>
                <a:schemeClr val="accent2"/>
              </a:buClr>
              <a:buFont typeface="+mj-lt"/>
              <a:buAutoNum type="arabicPeriod"/>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425343" y="310220"/>
            <a:ext cx="942554" cy="409125"/>
          </a:xfrm>
          <a:solidFill>
            <a:schemeClr val="bg2">
              <a:lumMod val="90000"/>
            </a:schemeClr>
          </a:solidFill>
        </p:spPr>
        <p:txBody>
          <a:bodyPr/>
          <a:lstStyle/>
          <a:p>
            <a:fld id="{6C2206C6-C6B2-4E06-A7AA-7F308C2F851D}"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8367897" y="310220"/>
            <a:ext cx="322029" cy="409125"/>
          </a:xfrm>
          <a:solidFill>
            <a:schemeClr val="bg2">
              <a:lumMod val="90000"/>
            </a:schemeClr>
          </a:solidFill>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52014826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9143997" cy="51435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028703" y="2561628"/>
            <a:ext cx="8115298" cy="2581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8629650" y="834887"/>
            <a:ext cx="0" cy="1278009"/>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9730" y="137161"/>
            <a:ext cx="5948169" cy="1678940"/>
          </a:xfrm>
          <a:noFill/>
        </p:spPr>
        <p:txBody>
          <a:bodyPr anchor="t">
            <a:normAutofit/>
          </a:bodyPr>
          <a:lstStyle>
            <a:lvl1pPr>
              <a:defRPr sz="9000" spc="-38"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353710" y="2880360"/>
            <a:ext cx="4907943" cy="1902350"/>
          </a:xfrm>
        </p:spPr>
        <p:txBody>
          <a:bodyPr>
            <a:normAutofit/>
          </a:bodyPr>
          <a:lstStyle>
            <a:lvl1pPr marL="257175" indent="-257175">
              <a:buClr>
                <a:schemeClr val="accent2"/>
              </a:buClr>
              <a:buFont typeface="+mj-lt"/>
              <a:buAutoNum type="arabicPeriod"/>
              <a:defRPr sz="1350"/>
            </a:lvl1pPr>
            <a:lvl2pPr marL="600075" indent="-257175">
              <a:buClr>
                <a:schemeClr val="accent2"/>
              </a:buClr>
              <a:buFont typeface="+mj-lt"/>
              <a:buAutoNum type="arabicPeriod"/>
              <a:defRPr sz="1200"/>
            </a:lvl2pPr>
            <a:lvl3pPr marL="942975" indent="-257175">
              <a:buClr>
                <a:schemeClr val="accent2"/>
              </a:buClr>
              <a:buFont typeface="+mj-lt"/>
              <a:buAutoNum type="arabicPeriod"/>
              <a:defRPr sz="1050"/>
            </a:lvl3pPr>
            <a:lvl4pPr>
              <a:buClr>
                <a:schemeClr val="accent2"/>
              </a:buClr>
              <a:buFont typeface="+mj-lt"/>
              <a:buAutoNum type="arabicPeriod"/>
              <a:defRPr sz="900"/>
            </a:lvl4pPr>
            <a:lvl5pPr>
              <a:buClr>
                <a:schemeClr val="accent2"/>
              </a:buClr>
              <a:buFont typeface="+mj-lt"/>
              <a:buAutoNum type="arabicPeriod"/>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600958" y="459286"/>
            <a:ext cx="1113171" cy="359514"/>
          </a:xfrm>
          <a:noFill/>
        </p:spPr>
        <p:txBody>
          <a:bodyPr anchor="t"/>
          <a:lstStyle>
            <a:lvl1pPr algn="r">
              <a:defRPr sz="788"/>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450134" y="2067525"/>
            <a:ext cx="942554" cy="317867"/>
          </a:xfrm>
          <a:solidFill>
            <a:schemeClr val="bg2">
              <a:lumMod val="90000"/>
            </a:schemeClr>
          </a:solidFill>
        </p:spPr>
        <p:txBody>
          <a:bodyPr anchor="ctr"/>
          <a:lstStyle>
            <a:lvl1pPr algn="r">
              <a:defRPr/>
            </a:lvl1pPr>
          </a:lstStyle>
          <a:p>
            <a:fld id="{D1188C7A-78DB-4967-8643-716598F25D97}"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8407908" y="2067525"/>
            <a:ext cx="322029" cy="317867"/>
          </a:xfrm>
          <a:solidFill>
            <a:schemeClr val="bg2">
              <a:lumMod val="90000"/>
            </a:schemeClr>
          </a:solidFill>
        </p:spPr>
        <p:txBody>
          <a:bodyPr/>
          <a:lstStyle/>
          <a:p>
            <a:pPr algn="l"/>
            <a:fld id="{F7021451-1387-4CA6-816F-3879F97B5CBC}" type="slidenum">
              <a:rPr lang="en-US" b="0"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6572250" y="2561628"/>
            <a:ext cx="2571750" cy="2581872"/>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02823392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28701" y="1543050"/>
            <a:ext cx="2571750" cy="1401418"/>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1543051"/>
            <a:ext cx="348615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33688459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52628" y="773937"/>
            <a:ext cx="2976372" cy="1121134"/>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817515" y="751399"/>
            <a:ext cx="4812135" cy="3512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543800" y="4522401"/>
            <a:ext cx="884682" cy="273844"/>
          </a:xfrm>
        </p:spPr>
        <p:txBody>
          <a:bodyPr/>
          <a:lstStyle/>
          <a:p>
            <a:fld id="{4758A600-6D87-4303-8A2F-171F72E22375}"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28164628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2343150" cy="51435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828800" y="0"/>
            <a:ext cx="5543550" cy="905256"/>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800350" y="1025717"/>
            <a:ext cx="5946755" cy="3358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2857500" y="4657725"/>
            <a:ext cx="577215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2743201" y="4522401"/>
            <a:ext cx="1518407" cy="273844"/>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543800" y="4522401"/>
            <a:ext cx="884682" cy="273844"/>
          </a:xfrm>
        </p:spPr>
        <p:txBody>
          <a:bodyPr/>
          <a:lstStyle/>
          <a:p>
            <a:fld id="{FBFC4637-11C9-448C-8D4C-0CD0AE46C949}"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35563275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4114800" cy="417195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797489" y="0"/>
            <a:ext cx="3289111" cy="1347093"/>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541292" y="1473961"/>
            <a:ext cx="3644994" cy="27996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786201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52628" y="374606"/>
            <a:ext cx="2719082" cy="1106019"/>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54074" y="1593167"/>
            <a:ext cx="2675553" cy="26165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3600451" y="0"/>
            <a:ext cx="5543550" cy="417195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543800" y="4522401"/>
            <a:ext cx="884682" cy="273844"/>
          </a:xfrm>
        </p:spPr>
        <p:txBody>
          <a:bodyPr/>
          <a:lstStyle/>
          <a:p>
            <a:fld id="{917E8D86-1037-438D-973A-F8D03A01BF16}"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8428655" y="4522401"/>
            <a:ext cx="322029" cy="273844"/>
          </a:xfrm>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02983114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52628" y="322535"/>
            <a:ext cx="3704254" cy="87470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54074" y="1310094"/>
            <a:ext cx="4332672" cy="2977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5543550" y="0"/>
            <a:ext cx="3600450" cy="417195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543800" y="4522401"/>
            <a:ext cx="884682" cy="273844"/>
          </a:xfrm>
        </p:spPr>
        <p:txBody>
          <a:bodyPr/>
          <a:lstStyle/>
          <a:p>
            <a:fld id="{B0ECE3E5-DEB1-48A2-A1A9-7ABBE9A784F7}"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8428655" y="4522401"/>
            <a:ext cx="322029" cy="273844"/>
          </a:xfrm>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69344088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886450" cy="51435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5587842" y="0"/>
            <a:ext cx="3107123" cy="148401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331647" y="1584730"/>
            <a:ext cx="2363318" cy="27586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329934" y="4522401"/>
            <a:ext cx="1433322" cy="273844"/>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763256" y="4522401"/>
            <a:ext cx="667558" cy="273844"/>
          </a:xfrm>
          <a:noFill/>
        </p:spPr>
        <p:txBody>
          <a:bodyPr/>
          <a:lstStyle/>
          <a:p>
            <a:fld id="{2B950759-980B-4783-B58D-96B69BC77CA8}"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42793986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9144000" cy="51435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52628" y="751032"/>
            <a:ext cx="2700842" cy="1021844"/>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52628" y="1872636"/>
            <a:ext cx="2700842" cy="172781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52629" y="377428"/>
            <a:ext cx="1430849" cy="273844"/>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452628" y="3600450"/>
            <a:ext cx="942554" cy="273844"/>
          </a:xfrm>
          <a:noFill/>
        </p:spPr>
        <p:txBody>
          <a:bodyPr/>
          <a:lstStyle>
            <a:lvl1pPr algn="l">
              <a:defRPr/>
            </a:lvl1pPr>
          </a:lstStyle>
          <a:p>
            <a:fld id="{75D8CBF3-D33E-488B-BE09-B302C3504935}"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2960731" y="3600450"/>
            <a:ext cx="322029" cy="273844"/>
          </a:xfrm>
          <a:noFill/>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17864434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52628" y="3505467"/>
            <a:ext cx="2366010" cy="965935"/>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1" y="0"/>
            <a:ext cx="9143999" cy="30861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086100" y="3485296"/>
            <a:ext cx="5664086" cy="1037105"/>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543800" y="4522401"/>
            <a:ext cx="884682" cy="273844"/>
          </a:xfrm>
          <a:noFill/>
        </p:spPr>
        <p:txBody>
          <a:bodyPr/>
          <a:lstStyle/>
          <a:p>
            <a:fld id="{49885C97-4180-47D6-BA3E-83C74E1B1903}"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8428157" y="4522401"/>
            <a:ext cx="322029" cy="273844"/>
          </a:xfrm>
          <a:noFill/>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78371071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52629" y="252797"/>
            <a:ext cx="5090924" cy="634448"/>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79102" y="478280"/>
            <a:ext cx="1430849" cy="273844"/>
          </a:xfrm>
        </p:spPr>
        <p:txBody>
          <a:bodyPr anchor="t"/>
          <a:lstStyle>
            <a:lvl1pPr algn="r">
              <a:defRPr/>
            </a:lvl1pPr>
          </a:lstStyle>
          <a:p>
            <a:r>
              <a:rPr lang="en-US"/>
              <a:t>Sample Footer Text</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028700"/>
            <a:ext cx="5543552"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974623" y="950053"/>
            <a:ext cx="2171096" cy="35723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pPr algn="l"/>
            <a:fld id="{F7021451-1387-4CA6-816F-3879F97B5CBC}" type="slidenum">
              <a:rPr lang="en-US" b="0"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8627028" y="771525"/>
            <a:ext cx="0" cy="360045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588763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3600450" cy="3616779"/>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51564" y="3280575"/>
            <a:ext cx="2923429" cy="1035611"/>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042137" y="514351"/>
            <a:ext cx="4073163" cy="3903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52231" y="4522400"/>
            <a:ext cx="1433322" cy="273845"/>
          </a:xfrm>
          <a:solidFill>
            <a:schemeClr val="bg1"/>
          </a:solidFill>
        </p:spPr>
        <p:txBody>
          <a:bodyPr anchor="ct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543800" y="4522401"/>
            <a:ext cx="884682" cy="273844"/>
          </a:xfrm>
          <a:solidFill>
            <a:schemeClr val="bg1"/>
          </a:solidFill>
        </p:spPr>
        <p:txBody>
          <a:bodyPr/>
          <a:lstStyle/>
          <a:p>
            <a:fld id="{A25B1B0E-4CBA-421A-9FF9-BD907EE313C7}"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19767985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9144000" cy="51435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600450" y="3861841"/>
            <a:ext cx="5145830" cy="631895"/>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25647" y="90574"/>
            <a:ext cx="8042250" cy="3195303"/>
          </a:xfrm>
        </p:spPr>
        <p:txBody>
          <a:bodyPr lIns="0" tIns="0" rIns="0" bIns="0" anchor="b">
            <a:normAutofit/>
          </a:bodyPr>
          <a:lstStyle>
            <a:lvl1pPr marL="0" indent="0">
              <a:buNone/>
              <a:defRPr sz="21000" spc="-150" baseline="0">
                <a:solidFill>
                  <a:schemeClr val="accent3"/>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54074" y="4522401"/>
            <a:ext cx="1603327" cy="273844"/>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pPr algn="l"/>
            <a:fld id="{F7021451-1387-4CA6-816F-3879F97B5CBC}" type="slidenum">
              <a:rPr lang="en-US" b="0"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8627696" y="506896"/>
            <a:ext cx="0" cy="3138221"/>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5733696"/>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9144000" cy="51435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54074" y="-588893"/>
            <a:ext cx="8235853" cy="48006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253448" y="1237422"/>
            <a:ext cx="7627441" cy="3712265"/>
          </a:xfrm>
        </p:spPr>
        <p:txBody>
          <a:bodyPr anchor="b">
            <a:normAutofit/>
          </a:bodyPr>
          <a:lstStyle>
            <a:lvl1pPr marL="0" indent="0">
              <a:lnSpc>
                <a:spcPct val="80000"/>
              </a:lnSpc>
              <a:spcBef>
                <a:spcPts val="0"/>
              </a:spcBef>
              <a:buNone/>
              <a:defRPr sz="5400" cap="all" spc="-75" baseline="0">
                <a:solidFill>
                  <a:schemeClr val="accent1"/>
                </a:solidFill>
                <a:latin typeface="+mj-lt"/>
              </a:defRPr>
            </a:lvl1pPr>
            <a:lvl2pPr marL="342900" indent="0">
              <a:lnSpc>
                <a:spcPct val="80000"/>
              </a:lnSpc>
              <a:buNone/>
              <a:defRPr sz="5400" cap="all" baseline="0">
                <a:solidFill>
                  <a:schemeClr val="bg1"/>
                </a:solidFill>
                <a:latin typeface="+mj-lt"/>
              </a:defRPr>
            </a:lvl2pPr>
            <a:lvl3pPr marL="685800" indent="0">
              <a:lnSpc>
                <a:spcPct val="80000"/>
              </a:lnSpc>
              <a:buNone/>
              <a:defRPr sz="5400" cap="all" baseline="0">
                <a:solidFill>
                  <a:schemeClr val="bg1"/>
                </a:solidFill>
                <a:latin typeface="+mj-lt"/>
              </a:defRPr>
            </a:lvl3pPr>
            <a:lvl4pPr marL="1028700" indent="0">
              <a:lnSpc>
                <a:spcPct val="80000"/>
              </a:lnSpc>
              <a:buNone/>
              <a:defRPr sz="4950" cap="all" baseline="0">
                <a:solidFill>
                  <a:schemeClr val="bg1"/>
                </a:solidFill>
                <a:latin typeface="+mj-lt"/>
              </a:defRPr>
            </a:lvl4pPr>
            <a:lvl5pPr marL="1371600" indent="0">
              <a:lnSpc>
                <a:spcPct val="80000"/>
              </a:lnSpc>
              <a:buNone/>
              <a:defRPr sz="495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694723" y="514350"/>
            <a:ext cx="7745068"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54074" y="375921"/>
            <a:ext cx="1430849" cy="273844"/>
          </a:xfrm>
          <a:solidFill>
            <a:schemeClr val="accent2">
              <a:lumMod val="60000"/>
              <a:lumOff val="40000"/>
            </a:schemeClr>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425343" y="375921"/>
            <a:ext cx="942554" cy="273844"/>
          </a:xfrm>
          <a:solidFill>
            <a:schemeClr val="accent2">
              <a:lumMod val="60000"/>
              <a:lumOff val="40000"/>
            </a:schemeClr>
          </a:solidFill>
        </p:spPr>
        <p:txBody>
          <a:bodyPr/>
          <a:lstStyle>
            <a:lvl1pPr>
              <a:defRPr>
                <a:solidFill>
                  <a:schemeClr val="bg1"/>
                </a:solidFill>
              </a:defRPr>
            </a:lvl1pPr>
          </a:lstStyle>
          <a:p>
            <a:fld id="{90907655-BDED-4A88-9727-947E02456645}"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8367897" y="375921"/>
            <a:ext cx="322029" cy="273844"/>
          </a:xfrm>
          <a:solidFill>
            <a:schemeClr val="accent2">
              <a:lumMod val="60000"/>
              <a:lumOff val="40000"/>
            </a:schemeClr>
          </a:solidFill>
        </p:spPr>
        <p:txBody>
          <a:bodyPr/>
          <a:lstStyle>
            <a:lvl1pPr>
              <a:defRPr>
                <a:solidFill>
                  <a:schemeClr val="bg1"/>
                </a:solidFill>
              </a:defRPr>
            </a:lvl1p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189558874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9143999" cy="51435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1"/>
            <a:ext cx="6572250" cy="3778754"/>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541820" y="4659328"/>
            <a:ext cx="8106459"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3086100" y="4057652"/>
            <a:ext cx="5657850" cy="279560"/>
          </a:xfrm>
          <a:noFill/>
        </p:spPr>
        <p:txBody>
          <a:bodyPr tIns="91440" bIns="91440" anchor="ctr">
            <a:normAutofit/>
          </a:bodyPr>
          <a:lstStyle>
            <a:lvl1pPr algn="r">
              <a:defRPr sz="15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52628" y="544167"/>
            <a:ext cx="6633972" cy="2742126"/>
          </a:xfrm>
        </p:spPr>
        <p:txBody>
          <a:bodyPr>
            <a:normAutofit/>
          </a:bodyPr>
          <a:lstStyle>
            <a:lvl1pPr marL="171450" indent="-171450">
              <a:lnSpc>
                <a:spcPct val="85000"/>
              </a:lnSpc>
              <a:spcBef>
                <a:spcPts val="0"/>
              </a:spcBef>
              <a:buNone/>
              <a:defRPr sz="435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454073" y="4522401"/>
            <a:ext cx="1433322" cy="273844"/>
          </a:xfrm>
          <a:solidFill>
            <a:schemeClr val="accent3">
              <a:lumMod val="60000"/>
              <a:lumOff val="40000"/>
            </a:schemeClr>
          </a:solidFill>
        </p:spPr>
        <p:txBody>
          <a:bodyPr/>
          <a:lstStyle>
            <a:lvl1pPr>
              <a:defRPr b="0">
                <a:solidFill>
                  <a:schemeClr val="accent5"/>
                </a:solidFill>
                <a:latin typeface="+mn-lt"/>
              </a:defRPr>
            </a:lvl1pPr>
          </a:lstStyle>
          <a:p>
            <a:r>
              <a:rPr lang="en-US"/>
              <a:t>Sample Footer Text</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7351776" y="4522401"/>
            <a:ext cx="1076706" cy="273844"/>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1">
              <a:rPr lang="en-US" smtClean="0"/>
              <a:t>10/5/2026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152673058"/>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452628" y="390889"/>
            <a:ext cx="8177022" cy="803137"/>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454073" y="1317173"/>
            <a:ext cx="3886200" cy="3026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4743450" y="1317173"/>
            <a:ext cx="3886200" cy="3026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1">
              <a:rPr lang="en-US" smtClean="0"/>
              <a:t>10/5/2026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130473465"/>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452628" y="390905"/>
            <a:ext cx="8174736" cy="802386"/>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454074" y="1223307"/>
            <a:ext cx="3868340" cy="532046"/>
          </a:xfrm>
        </p:spPr>
        <p:txBody>
          <a:bodyPr anchor="b">
            <a:normAutofit/>
          </a:bodyPr>
          <a:lstStyle>
            <a:lvl1pPr marL="0" indent="0">
              <a:buNone/>
              <a:defRPr sz="1350" b="1" cap="all" spc="38"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454074" y="1779110"/>
            <a:ext cx="3868340" cy="2621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4743450" y="1223307"/>
            <a:ext cx="3887391" cy="532045"/>
          </a:xfrm>
        </p:spPr>
        <p:txBody>
          <a:bodyPr anchor="b">
            <a:normAutofit/>
          </a:bodyPr>
          <a:lstStyle>
            <a:lvl1pPr marL="0" indent="0">
              <a:buNone/>
              <a:defRPr sz="1350" b="1" cap="all" spc="38"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4743450" y="1779109"/>
            <a:ext cx="3887391" cy="2621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1">
              <a:rPr lang="en-US" smtClean="0"/>
              <a:t>10/5/2026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98127810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452629" y="198882"/>
            <a:ext cx="8271692" cy="99441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1">
              <a:rPr lang="en-US" smtClean="0"/>
              <a:t>10/5/2026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99320875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1">
              <a:rPr lang="en-US" smtClean="0"/>
              <a:t>10/5/2026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100023364"/>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9144000" cy="51435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1543050" y="2313495"/>
            <a:ext cx="7600467" cy="2830006"/>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09730" y="137161"/>
            <a:ext cx="6462513" cy="1405890"/>
          </a:xfrm>
          <a:noFill/>
        </p:spPr>
        <p:txBody>
          <a:bodyPr anchor="t">
            <a:normAutofit/>
          </a:bodyPr>
          <a:lstStyle>
            <a:lvl1pPr>
              <a:defRPr sz="72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315200" y="463443"/>
            <a:ext cx="1400173" cy="346411"/>
          </a:xfrm>
          <a:noFill/>
        </p:spPr>
        <p:txBody>
          <a:bodyPr anchor="t"/>
          <a:lstStyle>
            <a:lvl1pPr algn="r">
              <a:defRPr sz="675"/>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946884" y="2658649"/>
            <a:ext cx="6743042" cy="1835087"/>
          </a:xfrm>
        </p:spPr>
        <p:txBody>
          <a:bodyPr>
            <a:normAutofit/>
          </a:bodyPr>
          <a:lstStyle>
            <a:lvl1pPr marL="0" indent="0">
              <a:buClr>
                <a:schemeClr val="tx2"/>
              </a:buClr>
              <a:buFont typeface="Arial" panose="020B0604020202020204" pitchFamily="34" charset="0"/>
              <a:buNone/>
              <a:defRPr sz="1350"/>
            </a:lvl1pPr>
            <a:lvl2pPr marL="342900" indent="0">
              <a:buClr>
                <a:schemeClr val="tx2"/>
              </a:buClr>
              <a:buFont typeface="Arial" panose="020B0604020202020204" pitchFamily="34" charset="0"/>
              <a:buNone/>
              <a:defRPr sz="1200"/>
            </a:lvl2pPr>
            <a:lvl3pPr marL="685800" indent="0">
              <a:buClr>
                <a:schemeClr val="tx2"/>
              </a:buClr>
              <a:buFont typeface="Arial" panose="020B0604020202020204" pitchFamily="34" charset="0"/>
              <a:buNone/>
              <a:defRPr sz="1050"/>
            </a:lvl3pPr>
            <a:lvl4pPr marL="1028700" indent="0">
              <a:buClr>
                <a:schemeClr val="tx2"/>
              </a:buClr>
              <a:buFont typeface="Arial" panose="020B0604020202020204" pitchFamily="34" charset="0"/>
              <a:buNone/>
              <a:defRPr sz="900"/>
            </a:lvl4pPr>
            <a:lvl5pPr marL="1371600" indent="0">
              <a:buClr>
                <a:schemeClr val="tx2"/>
              </a:buClr>
              <a:buFont typeface="Arial" panose="020B0604020202020204" pitchFamily="34" charset="0"/>
              <a:buNone/>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946885" y="4518612"/>
            <a:ext cx="1357121" cy="273844"/>
          </a:xfrm>
          <a:solidFill>
            <a:schemeClr val="bg2"/>
          </a:solidFill>
        </p:spPr>
        <p:txBody>
          <a:bodyPr/>
          <a:lstStyle>
            <a:lvl1pPr algn="l">
              <a:defRPr/>
            </a:lvl1pPr>
          </a:lstStyle>
          <a:p>
            <a:fld id="{A8EB468F-DE53-43FF-8B87-9F03EBF19C21}"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549358741"/>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9144000" cy="51435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6327058" cy="15430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514350" y="3423470"/>
            <a:ext cx="38010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280219" y="398205"/>
            <a:ext cx="5777682" cy="981218"/>
          </a:xfrm>
          <a:noFill/>
        </p:spPr>
        <p:txBody>
          <a:bodyPr anchor="t">
            <a:normAutofit/>
          </a:bodyPr>
          <a:lstStyle>
            <a:lvl1pPr>
              <a:defRPr sz="6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527754" y="2678648"/>
            <a:ext cx="3757151" cy="1490771"/>
          </a:xfrm>
        </p:spPr>
        <p:txBody>
          <a:bodyPr anchor="ctr">
            <a:normAutofit/>
          </a:bodyPr>
          <a:lstStyle>
            <a:lvl1pPr marL="0" indent="0">
              <a:buClr>
                <a:schemeClr val="tx2"/>
              </a:buClr>
              <a:buFont typeface="Arial" panose="020B0604020202020204" pitchFamily="34" charset="0"/>
              <a:buNone/>
              <a:defRPr sz="1350"/>
            </a:lvl1pPr>
            <a:lvl2pPr marL="342900" indent="0">
              <a:buClr>
                <a:schemeClr val="tx2"/>
              </a:buClr>
              <a:buFont typeface="Arial" panose="020B0604020202020204" pitchFamily="34" charset="0"/>
              <a:buNone/>
              <a:defRPr sz="1200"/>
            </a:lvl2pPr>
            <a:lvl3pPr marL="685800" indent="0">
              <a:buClr>
                <a:schemeClr val="tx2"/>
              </a:buClr>
              <a:buFont typeface="Arial" panose="020B0604020202020204" pitchFamily="34" charset="0"/>
              <a:buNone/>
              <a:defRPr sz="1050"/>
            </a:lvl3pPr>
            <a:lvl4pPr marL="1028700" indent="0">
              <a:buClr>
                <a:schemeClr val="tx2"/>
              </a:buClr>
              <a:buFont typeface="Arial" panose="020B0604020202020204" pitchFamily="34" charset="0"/>
              <a:buNone/>
              <a:defRPr sz="900"/>
            </a:lvl4pPr>
            <a:lvl5pPr marL="1371600" indent="0">
              <a:buClr>
                <a:schemeClr val="tx2"/>
              </a:buClr>
              <a:buFont typeface="Arial" panose="020B0604020202020204" pitchFamily="34" charset="0"/>
              <a:buNone/>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54073" y="4522400"/>
            <a:ext cx="1433322" cy="273845"/>
          </a:xfrm>
          <a:noFill/>
        </p:spPr>
        <p:txBody>
          <a:bodyPr anchor="ctr"/>
          <a:lstStyle>
            <a:lvl1pPr algn="l">
              <a:defRPr sz="675" b="1"/>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349490" y="4522401"/>
            <a:ext cx="1081325" cy="273844"/>
          </a:xfrm>
          <a:noFill/>
        </p:spPr>
        <p:txBody>
          <a:bodyPr/>
          <a:lstStyle>
            <a:lvl1pPr algn="r">
              <a:defRPr/>
            </a:lvl1pPr>
          </a:lstStyle>
          <a:p>
            <a:fld id="{77D9A748-B116-46F1-81D5-0BE225FE4EB1}" type="datetime1">
              <a:rPr lang="en-US" smtClean="0"/>
              <a:t>10/5/2026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270872015"/>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75282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CONTENT">
    <p:bg>
      <p:bgPr>
        <a:solidFill>
          <a:srgbClr val="FFFFFF"/>
        </a:solidFill>
        <a:effectLst/>
      </p:bgPr>
    </p:bg>
    <p:spTree>
      <p:nvGrpSpPr>
        <p:cNvPr id="1" name=""/>
        <p:cNvGrpSpPr/>
        <p:nvPr/>
      </p:nvGrpSpPr>
      <p:grpSpPr>
        <a:xfrm>
          <a:off x="0" y="0"/>
          <a:ext cx="0" cy="0"/>
          <a:chOff x="0" y="0"/>
          <a:chExt cx="0" cy="0"/>
        </a:xfrm>
      </p:grpSpPr>
      <p:sp>
        <p:nvSpPr>
          <p:cNvPr id="4" name="Text 2"/>
          <p:cNvSpPr>
            <a:spLocks noGrp="1"/>
          </p:cNvSpPr>
          <p:nvPr>
            <p:ph type="title" idx="102" hasCustomPrompt="1"/>
          </p:nvPr>
        </p:nvSpPr>
        <p:spPr>
          <a:xfrm>
            <a:off x="457200" y="274320"/>
            <a:ext cx="8229600" cy="594360"/>
          </a:xfrm>
          <a:prstGeom prst="rect">
            <a:avLst/>
          </a:prstGeom>
          <a:noFill/>
          <a:ln/>
        </p:spPr>
        <p:txBody>
          <a:bodyPr wrap="square" rtlCol="0"/>
          <a:lstStyle>
            <a:lvl1pPr marL="0" indent="0" algn="l">
              <a:buNone/>
              <a:defRPr lang="en-US" sz="2400" b="1" dirty="0">
                <a:solidFill>
                  <a:srgbClr val="0B2545"/>
                </a:solidFill>
                <a:latin typeface="Calibri" pitchFamily="34" charset="0"/>
                <a:ea typeface="Calibri" pitchFamily="34" charset="-122"/>
                <a:cs typeface="Calibri" pitchFamily="34" charset="-120"/>
              </a:defRPr>
            </a:lvl1pPr>
          </a:lstStyle>
          <a:p>
            <a:pPr marL="0" indent="0" algn="l">
              <a:buNone/>
            </a:pP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4172274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541820" y="4659328"/>
            <a:ext cx="8106459"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452628" y="263453"/>
            <a:ext cx="8235853" cy="92979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454074" y="1309468"/>
            <a:ext cx="8235853" cy="298759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454073" y="4522401"/>
            <a:ext cx="1433322" cy="273844"/>
          </a:xfrm>
          <a:prstGeom prst="rect">
            <a:avLst/>
          </a:prstGeom>
          <a:solidFill>
            <a:schemeClr val="bg1"/>
          </a:solidFill>
        </p:spPr>
        <p:txBody>
          <a:bodyPr vert="horz" lIns="91440" tIns="45720" rIns="91440" bIns="45720" rtlCol="0" anchor="ctr"/>
          <a:lstStyle>
            <a:lvl1pPr algn="l">
              <a:defRPr sz="675" b="1" cap="all" spc="45" baseline="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7543800" y="4522401"/>
            <a:ext cx="887015" cy="273844"/>
          </a:xfrm>
          <a:prstGeom prst="rect">
            <a:avLst/>
          </a:prstGeom>
          <a:solidFill>
            <a:schemeClr val="bg1"/>
          </a:solidFill>
        </p:spPr>
        <p:txBody>
          <a:bodyPr vert="horz" lIns="91440" tIns="45720" rIns="91440" bIns="45720" rtlCol="0" anchor="ctr"/>
          <a:lstStyle>
            <a:lvl1pPr algn="r">
              <a:defRPr sz="675" cap="all" baseline="0">
                <a:solidFill>
                  <a:schemeClr val="tx2"/>
                </a:solidFill>
              </a:defRPr>
            </a:lvl1pPr>
          </a:lstStyle>
          <a:p>
            <a:fld id="{82B9AEC8-204B-4AD5-8041-BCAF36A74EBE}" type="datetime1">
              <a:rPr lang="en-US" smtClean="0"/>
              <a:t>10/5/2026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8425076" y="4522401"/>
            <a:ext cx="322029" cy="273844"/>
          </a:xfrm>
          <a:prstGeom prst="rect">
            <a:avLst/>
          </a:prstGeom>
          <a:solidFill>
            <a:schemeClr val="bg1"/>
          </a:solidFill>
        </p:spPr>
        <p:txBody>
          <a:bodyPr vert="horz" lIns="91440" tIns="45720" rIns="91440" bIns="45720" rtlCol="0" anchor="ctr"/>
          <a:lstStyle>
            <a:lvl1pPr algn="r">
              <a:defRPr sz="675" cap="all" baseline="0">
                <a:solidFill>
                  <a:schemeClr val="tx2"/>
                </a:solidFill>
              </a:defRPr>
            </a:lvl1p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76127864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Lst>
  <p:hf sldNum="0" hdr="0" ftr="0" dt="0"/>
  <p:txStyles>
    <p:titleStyle>
      <a:lvl1pPr marL="0" algn="l" defTabSz="685800" rtl="0" eaLnBrk="1" latinLnBrk="0" hangingPunct="1">
        <a:lnSpc>
          <a:spcPct val="100000"/>
        </a:lnSpc>
        <a:spcBef>
          <a:spcPct val="0"/>
        </a:spcBef>
        <a:spcAft>
          <a:spcPts val="0"/>
        </a:spcAft>
        <a:buNone/>
        <a:defRPr sz="2100" kern="1200" cap="all" baseline="0">
          <a:solidFill>
            <a:schemeClr val="accent5"/>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050" kern="1200">
          <a:solidFill>
            <a:schemeClr val="tx2"/>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1050" kern="1200">
          <a:solidFill>
            <a:schemeClr val="tx2"/>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050" kern="1200">
          <a:solidFill>
            <a:schemeClr val="tx2"/>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900" kern="1200">
          <a:solidFill>
            <a:schemeClr val="tx2"/>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9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9.xml"/><Relationship Id="rId5"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640080" y="1417320"/>
            <a:ext cx="109728" cy="1600200"/>
          </a:xfrm>
          <a:prstGeom prst="rect">
            <a:avLst/>
          </a:prstGeom>
          <a:solidFill>
            <a:srgbClr val="1B998B"/>
          </a:solidFill>
          <a:ln w="12700">
            <a:solidFill>
              <a:srgbClr val="1B998B"/>
            </a:solidFill>
            <a:prstDash val="solid"/>
          </a:ln>
        </p:spPr>
      </p:sp>
      <p:sp>
        <p:nvSpPr>
          <p:cNvPr id="3" name="Text 1"/>
          <p:cNvSpPr txBox="1"/>
          <p:nvPr/>
        </p:nvSpPr>
        <p:spPr>
          <a:xfrm>
            <a:off x="960120" y="1325880"/>
            <a:ext cx="7498080" cy="118872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Airline Operations &amp; Passenger Satisfaction Analysis</a:t>
            </a:r>
            <a:endParaRPr lang="en-US" sz="3400" dirty="0"/>
          </a:p>
        </p:txBody>
      </p:sp>
      <p:sp>
        <p:nvSpPr>
          <p:cNvPr id="4" name="Text 2"/>
          <p:cNvSpPr txBox="1"/>
          <p:nvPr/>
        </p:nvSpPr>
        <p:spPr>
          <a:xfrm>
            <a:off x="960120" y="2560320"/>
            <a:ext cx="7132320" cy="640080"/>
          </a:xfrm>
          <a:prstGeom prst="rect">
            <a:avLst/>
          </a:prstGeom>
          <a:noFill/>
          <a:ln/>
        </p:spPr>
        <p:txBody>
          <a:bodyPr wrap="square" lIns="0" tIns="0" rIns="0" bIns="0" rtlCol="0" anchor="ctr"/>
          <a:lstStyle/>
          <a:p>
            <a:pPr marL="0" indent="0">
              <a:buNone/>
            </a:pPr>
            <a:r>
              <a:rPr lang="en-US" sz="1500" dirty="0">
                <a:solidFill>
                  <a:srgbClr val="C9D6E8"/>
                </a:solidFill>
                <a:latin typeface="Calibri" pitchFamily="34" charset="0"/>
                <a:ea typeface="Calibri" pitchFamily="34" charset="-122"/>
                <a:cs typeface="Calibri" pitchFamily="34" charset="-120"/>
              </a:rPr>
              <a:t>SQL and Power BI project using 5.8 million US flight records (2015) and 129,880 passenger survey responses</a:t>
            </a:r>
            <a:endParaRPr lang="en-US" sz="1500" dirty="0"/>
          </a:p>
        </p:txBody>
      </p:sp>
      <p:sp>
        <p:nvSpPr>
          <p:cNvPr id="5" name="Text 3"/>
          <p:cNvSpPr txBox="1"/>
          <p:nvPr/>
        </p:nvSpPr>
        <p:spPr>
          <a:xfrm>
            <a:off x="960120" y="3931920"/>
            <a:ext cx="6400800" cy="320040"/>
          </a:xfrm>
          <a:prstGeom prst="rect">
            <a:avLst/>
          </a:prstGeom>
          <a:noFill/>
          <a:ln/>
        </p:spPr>
        <p:txBody>
          <a:bodyPr wrap="square" lIns="0" tIns="0" rIns="0" bIns="0" rtlCol="0" anchor="ctr"/>
          <a:lstStyle/>
          <a:p>
            <a:pPr marL="0" indent="0">
              <a:buNone/>
            </a:pPr>
            <a:r>
              <a:rPr lang="en-US" sz="1600" b="1" dirty="0">
                <a:solidFill>
                  <a:srgbClr val="E8A33D"/>
                </a:solidFill>
                <a:latin typeface="Calibri" pitchFamily="34" charset="0"/>
                <a:ea typeface="Calibri" pitchFamily="34" charset="-122"/>
                <a:cs typeface="Calibri" pitchFamily="34" charset="-120"/>
              </a:rPr>
              <a:t>Presented by Rameshwari Ruplal Sandile</a:t>
            </a:r>
            <a:endParaRPr lang="en-US" sz="1600" dirty="0"/>
          </a:p>
        </p:txBody>
      </p:sp>
      <p:sp>
        <p:nvSpPr>
          <p:cNvPr id="6" name="Text 4"/>
          <p:cNvSpPr txBox="1"/>
          <p:nvPr/>
        </p:nvSpPr>
        <p:spPr>
          <a:xfrm>
            <a:off x="960120" y="4297680"/>
            <a:ext cx="6400800" cy="274320"/>
          </a:xfrm>
          <a:prstGeom prst="rect">
            <a:avLst/>
          </a:prstGeom>
          <a:noFill/>
          <a:ln/>
        </p:spPr>
        <p:txBody>
          <a:bodyPr wrap="square" lIns="0" tIns="0" rIns="0" bIns="0" rtlCol="0" anchor="ctr"/>
          <a:lstStyle/>
          <a:p>
            <a:pPr marL="0" indent="0">
              <a:buNone/>
            </a:pPr>
            <a:r>
              <a:rPr lang="en-US" sz="1200" dirty="0">
                <a:solidFill>
                  <a:srgbClr val="C9D6E8"/>
                </a:solidFill>
                <a:latin typeface="Calibri" pitchFamily="34" charset="0"/>
                <a:ea typeface="Calibri" pitchFamily="34" charset="-122"/>
                <a:cs typeface="Calibri" pitchFamily="34" charset="-120"/>
              </a:rPr>
              <a:t>Tools: MySQL  |  Power BI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Overview</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sp>
        <p:nvSpPr>
          <p:cNvPr id="101" name="Shape 101"/>
          <p:cNvSpPr/>
          <p:nvPr/>
        </p:nvSpPr>
        <p:spPr>
          <a:xfrm>
            <a:off x="457200" y="1143000"/>
            <a:ext cx="5577840" cy="3200400"/>
          </a:xfrm>
          <a:prstGeom prst="roundRect">
            <a:avLst>
              <a:gd name="adj" fmla="val 4571"/>
            </a:avLst>
          </a:prstGeom>
          <a:solidFill>
            <a:srgbClr val="F3F6FA"/>
          </a:solidFill>
          <a:ln w="9525">
            <a:solidFill>
              <a:srgbClr val="DDE3EA"/>
            </a:solidFill>
          </a:ln>
        </p:spPr>
      </p:sp>
      <p:sp>
        <p:nvSpPr>
          <p:cNvPr id="102" name="Text 102"/>
          <p:cNvSpPr txBox="1"/>
          <p:nvPr/>
        </p:nvSpPr>
        <p:spPr>
          <a:xfrm>
            <a:off x="731520" y="1371600"/>
            <a:ext cx="5029200" cy="2743200"/>
          </a:xfrm>
          <a:prstGeom prst="rect">
            <a:avLst/>
          </a:prstGeom>
          <a:noFill/>
        </p:spPr>
        <p:txBody>
          <a:bodyPr wrap="square" lIns="0" tIns="0" rIns="0" bIns="0" rtlCol="0" anchor="t"/>
          <a:lstStyle/>
          <a:p>
            <a:pPr marL="0" indent="0" algn="l">
              <a:lnSpc>
                <a:spcPct val="115000"/>
              </a:lnSpc>
              <a:spcAft>
                <a:spcPts val="900"/>
              </a:spcAft>
              <a:buNone/>
            </a:pPr>
            <a:r>
              <a:rPr lang="en-US" sz="1600" b="0" dirty="0">
                <a:solidFill>
                  <a:srgbClr val="1F2937"/>
                </a:solidFill>
                <a:latin typeface="Calibri" pitchFamily="34" charset="0"/>
                <a:ea typeface="Calibri" pitchFamily="34" charset="-122"/>
                <a:cs typeface="Calibri" pitchFamily="34" charset="-120"/>
              </a:rPr>
              <a:t>This project analyses US airline operations and passenger satisfaction using SQL and Power BI.</a:t>
            </a:r>
          </a:p>
          <a:p>
            <a:pPr marL="0" indent="0" algn="l">
              <a:lnSpc>
                <a:spcPct val="115000"/>
              </a:lnSpc>
              <a:spcAft>
                <a:spcPts val="900"/>
              </a:spcAft>
              <a:buNone/>
            </a:pPr>
            <a:r>
              <a:rPr lang="en-US" sz="1600" b="0" dirty="0">
                <a:solidFill>
                  <a:srgbClr val="1F2937"/>
                </a:solidFill>
                <a:latin typeface="Calibri" pitchFamily="34" charset="0"/>
                <a:ea typeface="Calibri" pitchFamily="34" charset="-122"/>
                <a:cs typeface="Calibri" pitchFamily="34" charset="-120"/>
              </a:rPr>
              <a:t>It combines 5.8 million flight records from 2015 with 129,880 passenger survey responses, and turns them into 17 SQL queries, 4 reusable views, a stored procedure, two Power BI dashboards and clear recommendations.</a:t>
            </a:r>
          </a:p>
        </p:txBody>
      </p:sp>
      <p:sp>
        <p:nvSpPr>
          <p:cNvPr id="103" name="Shape 103"/>
          <p:cNvSpPr/>
          <p:nvPr/>
        </p:nvSpPr>
        <p:spPr>
          <a:xfrm>
            <a:off x="6217920" y="1143000"/>
            <a:ext cx="2468880" cy="1508760"/>
          </a:xfrm>
          <a:prstGeom prst="roundRect">
            <a:avLst>
              <a:gd name="adj" fmla="val 4571"/>
            </a:avLst>
          </a:prstGeom>
          <a:solidFill>
            <a:srgbClr val="F3F6FA"/>
          </a:solidFill>
          <a:ln w="9525">
            <a:solidFill>
              <a:srgbClr val="DDE3EA"/>
            </a:solidFill>
          </a:ln>
        </p:spPr>
      </p:sp>
      <p:sp>
        <p:nvSpPr>
          <p:cNvPr id="104" name="Text 104"/>
          <p:cNvSpPr txBox="1"/>
          <p:nvPr/>
        </p:nvSpPr>
        <p:spPr>
          <a:xfrm>
            <a:off x="6355080" y="1371600"/>
            <a:ext cx="2194560" cy="502920"/>
          </a:xfrm>
          <a:prstGeom prst="rect">
            <a:avLst/>
          </a:prstGeom>
          <a:noFill/>
        </p:spPr>
        <p:txBody>
          <a:bodyPr wrap="square" lIns="0" tIns="0" rIns="0" bIns="0" rtlCol="0" anchor="ctr"/>
          <a:lstStyle/>
          <a:p>
            <a:pPr marL="0" indent="0" algn="ctr">
              <a:spcAft>
                <a:spcPts val="0"/>
              </a:spcAft>
              <a:buNone/>
            </a:pPr>
            <a:r>
              <a:rPr lang="en-US" sz="3200" b="1" dirty="0">
                <a:solidFill>
                  <a:srgbClr val="1B998B"/>
                </a:solidFill>
                <a:latin typeface="Calibri" pitchFamily="34" charset="0"/>
                <a:ea typeface="Calibri" pitchFamily="34" charset="-122"/>
                <a:cs typeface="Calibri" pitchFamily="34" charset="-120"/>
              </a:rPr>
              <a:t>5.8 million</a:t>
            </a:r>
          </a:p>
        </p:txBody>
      </p:sp>
      <p:sp>
        <p:nvSpPr>
          <p:cNvPr id="105" name="Text 105"/>
          <p:cNvSpPr txBox="1"/>
          <p:nvPr/>
        </p:nvSpPr>
        <p:spPr>
          <a:xfrm>
            <a:off x="6355080" y="1943100"/>
            <a:ext cx="2194560" cy="502920"/>
          </a:xfrm>
          <a:prstGeom prst="rect">
            <a:avLst/>
          </a:prstGeom>
          <a:noFill/>
        </p:spPr>
        <p:txBody>
          <a:bodyPr wrap="square" lIns="0" tIns="0" rIns="0" bIns="0" rtlCol="0" anchor="t"/>
          <a:lstStyle/>
          <a:p>
            <a:pPr marL="0" indent="0" algn="ctr">
              <a:spcAft>
                <a:spcPts val="0"/>
              </a:spcAft>
              <a:buNone/>
            </a:pPr>
            <a:r>
              <a:rPr lang="en-US" sz="1200" b="0" dirty="0">
                <a:solidFill>
                  <a:srgbClr val="6B7280"/>
                </a:solidFill>
                <a:latin typeface="Calibri" pitchFamily="34" charset="0"/>
                <a:ea typeface="Calibri" pitchFamily="34" charset="-122"/>
                <a:cs typeface="Calibri" pitchFamily="34" charset="-120"/>
              </a:rPr>
              <a:t>flight records (2015)</a:t>
            </a:r>
          </a:p>
        </p:txBody>
      </p:sp>
      <p:sp>
        <p:nvSpPr>
          <p:cNvPr id="106" name="Shape 106"/>
          <p:cNvSpPr/>
          <p:nvPr/>
        </p:nvSpPr>
        <p:spPr>
          <a:xfrm>
            <a:off x="6217920" y="2834640"/>
            <a:ext cx="2468880" cy="1508760"/>
          </a:xfrm>
          <a:prstGeom prst="roundRect">
            <a:avLst>
              <a:gd name="adj" fmla="val 4571"/>
            </a:avLst>
          </a:prstGeom>
          <a:solidFill>
            <a:srgbClr val="F3F6FA"/>
          </a:solidFill>
          <a:ln w="9525">
            <a:solidFill>
              <a:srgbClr val="DDE3EA"/>
            </a:solidFill>
          </a:ln>
        </p:spPr>
      </p:sp>
      <p:sp>
        <p:nvSpPr>
          <p:cNvPr id="107" name="Text 107"/>
          <p:cNvSpPr txBox="1"/>
          <p:nvPr/>
        </p:nvSpPr>
        <p:spPr>
          <a:xfrm>
            <a:off x="6355080" y="3063240"/>
            <a:ext cx="2194560" cy="502920"/>
          </a:xfrm>
          <a:prstGeom prst="rect">
            <a:avLst/>
          </a:prstGeom>
          <a:noFill/>
        </p:spPr>
        <p:txBody>
          <a:bodyPr wrap="square" lIns="0" tIns="0" rIns="0" bIns="0" rtlCol="0" anchor="ctr"/>
          <a:lstStyle/>
          <a:p>
            <a:pPr marL="0" indent="0" algn="ctr">
              <a:spcAft>
                <a:spcPts val="0"/>
              </a:spcAft>
              <a:buNone/>
            </a:pPr>
            <a:r>
              <a:rPr lang="en-US" sz="3200" b="1" dirty="0">
                <a:solidFill>
                  <a:srgbClr val="1B998B"/>
                </a:solidFill>
                <a:latin typeface="Calibri" pitchFamily="34" charset="0"/>
                <a:ea typeface="Calibri" pitchFamily="34" charset="-122"/>
                <a:cs typeface="Calibri" pitchFamily="34" charset="-120"/>
              </a:rPr>
              <a:t>129,880</a:t>
            </a:r>
          </a:p>
        </p:txBody>
      </p:sp>
      <p:sp>
        <p:nvSpPr>
          <p:cNvPr id="108" name="Text 108"/>
          <p:cNvSpPr txBox="1"/>
          <p:nvPr/>
        </p:nvSpPr>
        <p:spPr>
          <a:xfrm>
            <a:off x="6355080" y="3634740"/>
            <a:ext cx="2194560" cy="502920"/>
          </a:xfrm>
          <a:prstGeom prst="rect">
            <a:avLst/>
          </a:prstGeom>
          <a:noFill/>
        </p:spPr>
        <p:txBody>
          <a:bodyPr wrap="square" lIns="0" tIns="0" rIns="0" bIns="0" rtlCol="0" anchor="t"/>
          <a:lstStyle/>
          <a:p>
            <a:pPr marL="0" indent="0" algn="ctr">
              <a:spcAft>
                <a:spcPts val="0"/>
              </a:spcAft>
              <a:buNone/>
            </a:pPr>
            <a:r>
              <a:rPr lang="en-US" sz="1200" b="0" dirty="0">
                <a:solidFill>
                  <a:srgbClr val="6B7280"/>
                </a:solidFill>
                <a:latin typeface="Calibri" pitchFamily="34" charset="0"/>
                <a:ea typeface="Calibri" pitchFamily="34" charset="-122"/>
                <a:cs typeface="Calibri" pitchFamily="34" charset="-120"/>
              </a:rPr>
              <a:t>passenger survey responses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Introduction</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3</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sp>
        <p:nvSpPr>
          <p:cNvPr id="109" name="Shape 109"/>
          <p:cNvSpPr/>
          <p:nvPr/>
        </p:nvSpPr>
        <p:spPr>
          <a:xfrm>
            <a:off x="457200" y="1143000"/>
            <a:ext cx="5577840" cy="3200400"/>
          </a:xfrm>
          <a:prstGeom prst="roundRect">
            <a:avLst>
              <a:gd name="adj" fmla="val 4571"/>
            </a:avLst>
          </a:prstGeom>
          <a:solidFill>
            <a:srgbClr val="F3F6FA"/>
          </a:solidFill>
          <a:ln w="9525">
            <a:solidFill>
              <a:srgbClr val="DDE3EA"/>
            </a:solidFill>
          </a:ln>
        </p:spPr>
      </p:sp>
      <p:sp>
        <p:nvSpPr>
          <p:cNvPr id="110" name="Text 110"/>
          <p:cNvSpPr txBox="1"/>
          <p:nvPr/>
        </p:nvSpPr>
        <p:spPr>
          <a:xfrm>
            <a:off x="731520" y="1371600"/>
            <a:ext cx="5029200" cy="2743200"/>
          </a:xfrm>
          <a:prstGeom prst="rect">
            <a:avLst/>
          </a:prstGeom>
          <a:noFill/>
        </p:spPr>
        <p:txBody>
          <a:bodyPr wrap="square" lIns="0" tIns="0" rIns="0" bIns="0" rtlCol="0" anchor="t"/>
          <a:lstStyle/>
          <a:p>
            <a:pPr marL="0" indent="0" algn="l">
              <a:lnSpc>
                <a:spcPct val="115000"/>
              </a:lnSpc>
              <a:spcAft>
                <a:spcPts val="900"/>
              </a:spcAft>
              <a:buNone/>
            </a:pPr>
            <a:r>
              <a:rPr lang="en-US" sz="1600" b="0" dirty="0">
                <a:solidFill>
                  <a:srgbClr val="1F2937"/>
                </a:solidFill>
                <a:latin typeface="Calibri" pitchFamily="34" charset="0"/>
                <a:ea typeface="Calibri" pitchFamily="34" charset="-122"/>
                <a:cs typeface="Calibri" pitchFamily="34" charset="-120"/>
              </a:rPr>
              <a:t>Airlines are judged on two things: whether their flights run on time and whether their passengers are happy. This project looks at both sides.</a:t>
            </a:r>
          </a:p>
          <a:p>
            <a:pPr marL="0" indent="0" algn="l">
              <a:lnSpc>
                <a:spcPct val="115000"/>
              </a:lnSpc>
              <a:spcAft>
                <a:spcPts val="900"/>
              </a:spcAft>
              <a:buNone/>
            </a:pPr>
            <a:r>
              <a:rPr lang="en-US" sz="1600" b="0" dirty="0">
                <a:solidFill>
                  <a:srgbClr val="1F2937"/>
                </a:solidFill>
                <a:latin typeface="Calibri" pitchFamily="34" charset="0"/>
                <a:ea typeface="Calibri" pitchFamily="34" charset="-122"/>
                <a:cs typeface="Calibri" pitchFamily="34" charset="-120"/>
              </a:rPr>
              <a:t>The flight data shows how operations perform in terms of delays, cancellations and diversions, while the survey shows how passengers feel about the service. MySQL is used for cleaning and analysis, and Power BI for dashboards. The survey has no airline field, so the two datasets are analysed side by side.</a:t>
            </a:r>
          </a:p>
        </p:txBody>
      </p:sp>
      <p:sp>
        <p:nvSpPr>
          <p:cNvPr id="111" name="Shape 111"/>
          <p:cNvSpPr/>
          <p:nvPr/>
        </p:nvSpPr>
        <p:spPr>
          <a:xfrm>
            <a:off x="6217920" y="1143000"/>
            <a:ext cx="2468880" cy="1508760"/>
          </a:xfrm>
          <a:prstGeom prst="roundRect">
            <a:avLst>
              <a:gd name="adj" fmla="val 4571"/>
            </a:avLst>
          </a:prstGeom>
          <a:solidFill>
            <a:srgbClr val="F3F6FA"/>
          </a:solidFill>
          <a:ln w="9525">
            <a:solidFill>
              <a:srgbClr val="DDE3EA"/>
            </a:solidFill>
          </a:ln>
        </p:spPr>
      </p:sp>
      <p:sp>
        <p:nvSpPr>
          <p:cNvPr id="112" name="Text 112"/>
          <p:cNvSpPr txBox="1"/>
          <p:nvPr/>
        </p:nvSpPr>
        <p:spPr>
          <a:xfrm>
            <a:off x="6355080" y="1371600"/>
            <a:ext cx="2194560" cy="502920"/>
          </a:xfrm>
          <a:prstGeom prst="rect">
            <a:avLst/>
          </a:prstGeom>
          <a:noFill/>
        </p:spPr>
        <p:txBody>
          <a:bodyPr wrap="square" lIns="0" tIns="0" rIns="0" bIns="0" rtlCol="0" anchor="ctr"/>
          <a:lstStyle/>
          <a:p>
            <a:pPr marL="0" indent="0" algn="ctr">
              <a:spcAft>
                <a:spcPts val="0"/>
              </a:spcAft>
              <a:buNone/>
            </a:pPr>
            <a:r>
              <a:rPr lang="en-US" sz="3200" b="1" dirty="0">
                <a:solidFill>
                  <a:srgbClr val="1B998B"/>
                </a:solidFill>
                <a:latin typeface="Calibri" pitchFamily="34" charset="0"/>
                <a:ea typeface="Calibri" pitchFamily="34" charset="-122"/>
                <a:cs typeface="Calibri" pitchFamily="34" charset="-120"/>
              </a:rPr>
              <a:t>17</a:t>
            </a:r>
          </a:p>
        </p:txBody>
      </p:sp>
      <p:sp>
        <p:nvSpPr>
          <p:cNvPr id="113" name="Text 113"/>
          <p:cNvSpPr txBox="1"/>
          <p:nvPr/>
        </p:nvSpPr>
        <p:spPr>
          <a:xfrm>
            <a:off x="6355080" y="1943100"/>
            <a:ext cx="2194560" cy="502920"/>
          </a:xfrm>
          <a:prstGeom prst="rect">
            <a:avLst/>
          </a:prstGeom>
          <a:noFill/>
        </p:spPr>
        <p:txBody>
          <a:bodyPr wrap="square" lIns="0" tIns="0" rIns="0" bIns="0" rtlCol="0" anchor="t"/>
          <a:lstStyle/>
          <a:p>
            <a:pPr marL="0" indent="0" algn="ctr">
              <a:spcAft>
                <a:spcPts val="0"/>
              </a:spcAft>
              <a:buNone/>
            </a:pPr>
            <a:r>
              <a:rPr lang="en-US" sz="1200" b="0" dirty="0">
                <a:solidFill>
                  <a:srgbClr val="6B7280"/>
                </a:solidFill>
                <a:latin typeface="Calibri" pitchFamily="34" charset="0"/>
                <a:ea typeface="Calibri" pitchFamily="34" charset="-122"/>
                <a:cs typeface="Calibri" pitchFamily="34" charset="-120"/>
              </a:rPr>
              <a:t>SQL queries</a:t>
            </a:r>
          </a:p>
        </p:txBody>
      </p:sp>
      <p:sp>
        <p:nvSpPr>
          <p:cNvPr id="114" name="Shape 114"/>
          <p:cNvSpPr/>
          <p:nvPr/>
        </p:nvSpPr>
        <p:spPr>
          <a:xfrm>
            <a:off x="6217920" y="2834640"/>
            <a:ext cx="2468880" cy="1508760"/>
          </a:xfrm>
          <a:prstGeom prst="roundRect">
            <a:avLst>
              <a:gd name="adj" fmla="val 4571"/>
            </a:avLst>
          </a:prstGeom>
          <a:solidFill>
            <a:srgbClr val="F3F6FA"/>
          </a:solidFill>
          <a:ln w="9525">
            <a:solidFill>
              <a:srgbClr val="DDE3EA"/>
            </a:solidFill>
          </a:ln>
        </p:spPr>
      </p:sp>
      <p:sp>
        <p:nvSpPr>
          <p:cNvPr id="115" name="Text 115"/>
          <p:cNvSpPr txBox="1"/>
          <p:nvPr/>
        </p:nvSpPr>
        <p:spPr>
          <a:xfrm>
            <a:off x="6355080" y="3063240"/>
            <a:ext cx="2194560" cy="502920"/>
          </a:xfrm>
          <a:prstGeom prst="rect">
            <a:avLst/>
          </a:prstGeom>
          <a:noFill/>
        </p:spPr>
        <p:txBody>
          <a:bodyPr wrap="square" lIns="0" tIns="0" rIns="0" bIns="0" rtlCol="0" anchor="ctr"/>
          <a:lstStyle/>
          <a:p>
            <a:pPr marL="0" indent="0" algn="ctr">
              <a:spcAft>
                <a:spcPts val="0"/>
              </a:spcAft>
              <a:buNone/>
            </a:pPr>
            <a:r>
              <a:rPr lang="en-US" sz="3200" b="1" dirty="0">
                <a:solidFill>
                  <a:srgbClr val="1B998B"/>
                </a:solidFill>
                <a:latin typeface="Calibri" pitchFamily="34" charset="0"/>
                <a:ea typeface="Calibri" pitchFamily="34" charset="-122"/>
                <a:cs typeface="Calibri" pitchFamily="34" charset="-120"/>
              </a:rPr>
              <a:t>2</a:t>
            </a:r>
          </a:p>
        </p:txBody>
      </p:sp>
      <p:sp>
        <p:nvSpPr>
          <p:cNvPr id="116" name="Text 116"/>
          <p:cNvSpPr txBox="1"/>
          <p:nvPr/>
        </p:nvSpPr>
        <p:spPr>
          <a:xfrm>
            <a:off x="6355080" y="3634740"/>
            <a:ext cx="2194560" cy="502920"/>
          </a:xfrm>
          <a:prstGeom prst="rect">
            <a:avLst/>
          </a:prstGeom>
          <a:noFill/>
        </p:spPr>
        <p:txBody>
          <a:bodyPr wrap="square" lIns="0" tIns="0" rIns="0" bIns="0" rtlCol="0" anchor="t"/>
          <a:lstStyle/>
          <a:p>
            <a:pPr marL="0" indent="0" algn="ctr">
              <a:spcAft>
                <a:spcPts val="0"/>
              </a:spcAft>
              <a:buNone/>
            </a:pPr>
            <a:r>
              <a:rPr lang="en-US" sz="1200" b="0" dirty="0">
                <a:solidFill>
                  <a:srgbClr val="6B7280"/>
                </a:solidFill>
                <a:latin typeface="Calibri" pitchFamily="34" charset="0"/>
                <a:ea typeface="Calibri" pitchFamily="34" charset="-122"/>
                <a:cs typeface="Calibri" pitchFamily="34" charset="-120"/>
              </a:rPr>
              <a:t>Power BI dashboards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Problem statement</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4</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sp>
        <p:nvSpPr>
          <p:cNvPr id="117" name="Shape 117"/>
          <p:cNvSpPr/>
          <p:nvPr/>
        </p:nvSpPr>
        <p:spPr>
          <a:xfrm>
            <a:off x="457200" y="1143000"/>
            <a:ext cx="5577840" cy="3200400"/>
          </a:xfrm>
          <a:prstGeom prst="roundRect">
            <a:avLst>
              <a:gd name="adj" fmla="val 4571"/>
            </a:avLst>
          </a:prstGeom>
          <a:solidFill>
            <a:srgbClr val="F3F6FA"/>
          </a:solidFill>
          <a:ln w="9525">
            <a:solidFill>
              <a:srgbClr val="DDE3EA"/>
            </a:solidFill>
          </a:ln>
        </p:spPr>
      </p:sp>
      <p:sp>
        <p:nvSpPr>
          <p:cNvPr id="118" name="Text 118"/>
          <p:cNvSpPr txBox="1"/>
          <p:nvPr/>
        </p:nvSpPr>
        <p:spPr>
          <a:xfrm>
            <a:off x="731520" y="1371600"/>
            <a:ext cx="5029200" cy="2743200"/>
          </a:xfrm>
          <a:prstGeom prst="rect">
            <a:avLst/>
          </a:prstGeom>
          <a:noFill/>
        </p:spPr>
        <p:txBody>
          <a:bodyPr wrap="square" lIns="0" tIns="0" rIns="0" bIns="0" rtlCol="0" anchor="t"/>
          <a:lstStyle/>
          <a:p>
            <a:pPr marL="0" indent="0" algn="l">
              <a:lnSpc>
                <a:spcPct val="115000"/>
              </a:lnSpc>
              <a:spcAft>
                <a:spcPts val="900"/>
              </a:spcAft>
              <a:buNone/>
            </a:pPr>
            <a:r>
              <a:rPr lang="en-US" sz="1600" b="0" dirty="0">
                <a:solidFill>
                  <a:srgbClr val="1F2937"/>
                </a:solidFill>
                <a:latin typeface="Calibri" pitchFamily="34" charset="0"/>
                <a:ea typeface="Calibri" pitchFamily="34" charset="-122"/>
                <a:cs typeface="Calibri" pitchFamily="34" charset="-120"/>
              </a:rPr>
              <a:t>Delayed and cancelled flights and unhappy passengers cost airlines money and customer loyalty.</a:t>
            </a:r>
          </a:p>
          <a:p>
            <a:pPr marL="0" indent="0" algn="l">
              <a:lnSpc>
                <a:spcPct val="115000"/>
              </a:lnSpc>
              <a:spcAft>
                <a:spcPts val="900"/>
              </a:spcAft>
              <a:buNone/>
            </a:pPr>
            <a:r>
              <a:rPr lang="en-US" sz="1600" b="0" dirty="0">
                <a:solidFill>
                  <a:srgbClr val="1F2937"/>
                </a:solidFill>
                <a:latin typeface="Calibri" pitchFamily="34" charset="0"/>
                <a:ea typeface="Calibri" pitchFamily="34" charset="-122"/>
                <a:cs typeface="Calibri" pitchFamily="34" charset="-120"/>
              </a:rPr>
              <a:t>In 2015, 1.54% of flights were cancelled (about 90,000 flights), and only 43.45% of surveyed passengers were satisfied. Management needs to know where operations fail, when they fail, and which parts of the passenger experience matter most.</a:t>
            </a:r>
          </a:p>
        </p:txBody>
      </p:sp>
      <p:sp>
        <p:nvSpPr>
          <p:cNvPr id="119" name="Shape 119"/>
          <p:cNvSpPr/>
          <p:nvPr/>
        </p:nvSpPr>
        <p:spPr>
          <a:xfrm>
            <a:off x="6217920" y="1143000"/>
            <a:ext cx="2468880" cy="1508760"/>
          </a:xfrm>
          <a:prstGeom prst="roundRect">
            <a:avLst>
              <a:gd name="adj" fmla="val 4571"/>
            </a:avLst>
          </a:prstGeom>
          <a:solidFill>
            <a:srgbClr val="F3F6FA"/>
          </a:solidFill>
          <a:ln w="9525">
            <a:solidFill>
              <a:srgbClr val="DDE3EA"/>
            </a:solidFill>
          </a:ln>
        </p:spPr>
      </p:sp>
      <p:sp>
        <p:nvSpPr>
          <p:cNvPr id="120" name="Text 120"/>
          <p:cNvSpPr txBox="1"/>
          <p:nvPr/>
        </p:nvSpPr>
        <p:spPr>
          <a:xfrm>
            <a:off x="6355080" y="1371600"/>
            <a:ext cx="2194560" cy="502920"/>
          </a:xfrm>
          <a:prstGeom prst="rect">
            <a:avLst/>
          </a:prstGeom>
          <a:noFill/>
        </p:spPr>
        <p:txBody>
          <a:bodyPr wrap="square" lIns="0" tIns="0" rIns="0" bIns="0" rtlCol="0" anchor="ctr"/>
          <a:lstStyle/>
          <a:p>
            <a:pPr marL="0" indent="0" algn="ctr">
              <a:spcAft>
                <a:spcPts val="0"/>
              </a:spcAft>
              <a:buNone/>
            </a:pPr>
            <a:r>
              <a:rPr lang="en-US" sz="3200" b="1" dirty="0">
                <a:solidFill>
                  <a:srgbClr val="1B998B"/>
                </a:solidFill>
                <a:latin typeface="Calibri" pitchFamily="34" charset="0"/>
                <a:ea typeface="Calibri" pitchFamily="34" charset="-122"/>
                <a:cs typeface="Calibri" pitchFamily="34" charset="-120"/>
              </a:rPr>
              <a:t>1.54%</a:t>
            </a:r>
          </a:p>
        </p:txBody>
      </p:sp>
      <p:sp>
        <p:nvSpPr>
          <p:cNvPr id="121" name="Text 121"/>
          <p:cNvSpPr txBox="1"/>
          <p:nvPr/>
        </p:nvSpPr>
        <p:spPr>
          <a:xfrm>
            <a:off x="6355080" y="1943100"/>
            <a:ext cx="2194560" cy="502920"/>
          </a:xfrm>
          <a:prstGeom prst="rect">
            <a:avLst/>
          </a:prstGeom>
          <a:noFill/>
        </p:spPr>
        <p:txBody>
          <a:bodyPr wrap="square" lIns="0" tIns="0" rIns="0" bIns="0" rtlCol="0" anchor="t"/>
          <a:lstStyle/>
          <a:p>
            <a:pPr marL="0" indent="0" algn="ctr">
              <a:spcAft>
                <a:spcPts val="0"/>
              </a:spcAft>
              <a:buNone/>
            </a:pPr>
            <a:r>
              <a:rPr lang="en-US" sz="1200" b="0" dirty="0">
                <a:solidFill>
                  <a:srgbClr val="6B7280"/>
                </a:solidFill>
                <a:latin typeface="Calibri" pitchFamily="34" charset="0"/>
                <a:ea typeface="Calibri" pitchFamily="34" charset="-122"/>
                <a:cs typeface="Calibri" pitchFamily="34" charset="-120"/>
              </a:rPr>
              <a:t>of flights cancelled</a:t>
            </a:r>
          </a:p>
        </p:txBody>
      </p:sp>
      <p:sp>
        <p:nvSpPr>
          <p:cNvPr id="122" name="Shape 122"/>
          <p:cNvSpPr/>
          <p:nvPr/>
        </p:nvSpPr>
        <p:spPr>
          <a:xfrm>
            <a:off x="6217920" y="2834640"/>
            <a:ext cx="2468880" cy="1508760"/>
          </a:xfrm>
          <a:prstGeom prst="roundRect">
            <a:avLst>
              <a:gd name="adj" fmla="val 4571"/>
            </a:avLst>
          </a:prstGeom>
          <a:solidFill>
            <a:srgbClr val="F3F6FA"/>
          </a:solidFill>
          <a:ln w="9525">
            <a:solidFill>
              <a:srgbClr val="DDE3EA"/>
            </a:solidFill>
          </a:ln>
        </p:spPr>
      </p:sp>
      <p:sp>
        <p:nvSpPr>
          <p:cNvPr id="123" name="Text 123"/>
          <p:cNvSpPr txBox="1"/>
          <p:nvPr/>
        </p:nvSpPr>
        <p:spPr>
          <a:xfrm>
            <a:off x="6355080" y="3063240"/>
            <a:ext cx="2194560" cy="502920"/>
          </a:xfrm>
          <a:prstGeom prst="rect">
            <a:avLst/>
          </a:prstGeom>
          <a:noFill/>
        </p:spPr>
        <p:txBody>
          <a:bodyPr wrap="square" lIns="0" tIns="0" rIns="0" bIns="0" rtlCol="0" anchor="ctr"/>
          <a:lstStyle/>
          <a:p>
            <a:pPr marL="0" indent="0" algn="ctr">
              <a:spcAft>
                <a:spcPts val="0"/>
              </a:spcAft>
              <a:buNone/>
            </a:pPr>
            <a:r>
              <a:rPr lang="en-US" sz="3200" b="1" dirty="0">
                <a:solidFill>
                  <a:srgbClr val="1B998B"/>
                </a:solidFill>
                <a:latin typeface="Calibri" pitchFamily="34" charset="0"/>
                <a:ea typeface="Calibri" pitchFamily="34" charset="-122"/>
                <a:cs typeface="Calibri" pitchFamily="34" charset="-120"/>
              </a:rPr>
              <a:t>43.45%</a:t>
            </a:r>
          </a:p>
        </p:txBody>
      </p:sp>
      <p:sp>
        <p:nvSpPr>
          <p:cNvPr id="124" name="Text 124"/>
          <p:cNvSpPr txBox="1"/>
          <p:nvPr/>
        </p:nvSpPr>
        <p:spPr>
          <a:xfrm>
            <a:off x="6355080" y="3634740"/>
            <a:ext cx="2194560" cy="502920"/>
          </a:xfrm>
          <a:prstGeom prst="rect">
            <a:avLst/>
          </a:prstGeom>
          <a:noFill/>
        </p:spPr>
        <p:txBody>
          <a:bodyPr wrap="square" lIns="0" tIns="0" rIns="0" bIns="0" rtlCol="0" anchor="t"/>
          <a:lstStyle/>
          <a:p>
            <a:pPr marL="0" indent="0" algn="ctr">
              <a:spcAft>
                <a:spcPts val="0"/>
              </a:spcAft>
              <a:buNone/>
            </a:pPr>
            <a:r>
              <a:rPr lang="en-US" sz="1200" b="0" dirty="0">
                <a:solidFill>
                  <a:srgbClr val="6B7280"/>
                </a:solidFill>
                <a:latin typeface="Calibri" pitchFamily="34" charset="0"/>
                <a:ea typeface="Calibri" pitchFamily="34" charset="-122"/>
                <a:cs typeface="Calibri" pitchFamily="34" charset="-120"/>
              </a:rPr>
              <a:t>of passengers satisfied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Project objectives</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5</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sp>
        <p:nvSpPr>
          <p:cNvPr id="116" name="Shape 116"/>
          <p:cNvSpPr/>
          <p:nvPr/>
        </p:nvSpPr>
        <p:spPr>
          <a:xfrm>
            <a:off x="457200" y="1143000"/>
            <a:ext cx="8229600" cy="576072"/>
          </a:xfrm>
          <a:prstGeom prst="roundRect">
            <a:avLst>
              <a:gd name="adj" fmla="val 4571"/>
            </a:avLst>
          </a:prstGeom>
          <a:solidFill>
            <a:srgbClr val="F3F6FA"/>
          </a:solidFill>
          <a:ln w="9525">
            <a:solidFill>
              <a:srgbClr val="DDE3EA"/>
            </a:solidFill>
          </a:ln>
        </p:spPr>
      </p:sp>
      <p:sp>
        <p:nvSpPr>
          <p:cNvPr id="117" name="Shape 117"/>
          <p:cNvSpPr/>
          <p:nvPr/>
        </p:nvSpPr>
        <p:spPr>
          <a:xfrm>
            <a:off x="640080" y="1225296"/>
            <a:ext cx="411480" cy="411480"/>
          </a:xfrm>
          <a:prstGeom prst="ellipse">
            <a:avLst/>
          </a:prstGeom>
          <a:solidFill>
            <a:srgbClr val="1B998B"/>
          </a:solidFill>
          <a:ln w="9525">
            <a:solidFill>
              <a:srgbClr val="1B998B"/>
            </a:solidFill>
          </a:ln>
        </p:spPr>
      </p:sp>
      <p:sp>
        <p:nvSpPr>
          <p:cNvPr id="118" name="Text 118"/>
          <p:cNvSpPr txBox="1"/>
          <p:nvPr/>
        </p:nvSpPr>
        <p:spPr>
          <a:xfrm>
            <a:off x="640080" y="1225296"/>
            <a:ext cx="411480" cy="411480"/>
          </a:xfrm>
          <a:prstGeom prst="rect">
            <a:avLst/>
          </a:prstGeom>
          <a:noFill/>
        </p:spPr>
        <p:txBody>
          <a:bodyPr wrap="square" lIns="0" tIns="0" rIns="0" bIns="0" rtlCol="0" anchor="ctr"/>
          <a:lstStyle/>
          <a:p>
            <a:pPr marL="0" indent="0" algn="ctr">
              <a:spcAft>
                <a:spcPts val="0"/>
              </a:spcAft>
              <a:buNone/>
            </a:pPr>
            <a:r>
              <a:rPr lang="en-US" sz="1400" b="1" dirty="0">
                <a:solidFill>
                  <a:srgbClr val="FFFFFF"/>
                </a:solidFill>
                <a:latin typeface="Calibri" pitchFamily="34" charset="0"/>
                <a:ea typeface="Calibri" pitchFamily="34" charset="-122"/>
                <a:cs typeface="Calibri" pitchFamily="34" charset="-120"/>
              </a:rPr>
              <a:t>1</a:t>
            </a:r>
          </a:p>
        </p:txBody>
      </p:sp>
      <p:sp>
        <p:nvSpPr>
          <p:cNvPr id="119" name="Text 119"/>
          <p:cNvSpPr txBox="1"/>
          <p:nvPr/>
        </p:nvSpPr>
        <p:spPr>
          <a:xfrm>
            <a:off x="1234440" y="1143000"/>
            <a:ext cx="7269480" cy="576072"/>
          </a:xfrm>
          <a:prstGeom prst="rect">
            <a:avLst/>
          </a:prstGeom>
          <a:noFill/>
        </p:spPr>
        <p:txBody>
          <a:bodyPr wrap="square" lIns="0" tIns="0" rIns="0" bIns="0" rtlCol="0" anchor="ctr"/>
          <a:lstStyle/>
          <a:p>
            <a:pPr marL="0" indent="0" algn="l">
              <a:spcAft>
                <a:spcPts val="0"/>
              </a:spcAft>
              <a:buNone/>
            </a:pPr>
            <a:r>
              <a:rPr lang="en-US" sz="1400" b="0" dirty="0">
                <a:solidFill>
                  <a:srgbClr val="1F2937"/>
                </a:solidFill>
                <a:latin typeface="Calibri" pitchFamily="34" charset="0"/>
                <a:ea typeface="Calibri" pitchFamily="34" charset="-122"/>
                <a:cs typeface="Calibri" pitchFamily="34" charset="-120"/>
              </a:rPr>
              <a:t>Measure delays, cancellations and diversions across 14 airlines</a:t>
            </a:r>
          </a:p>
        </p:txBody>
      </p:sp>
      <p:sp>
        <p:nvSpPr>
          <p:cNvPr id="120" name="Shape 120"/>
          <p:cNvSpPr/>
          <p:nvPr/>
        </p:nvSpPr>
        <p:spPr>
          <a:xfrm>
            <a:off x="457200" y="1810512"/>
            <a:ext cx="8229600" cy="576072"/>
          </a:xfrm>
          <a:prstGeom prst="roundRect">
            <a:avLst>
              <a:gd name="adj" fmla="val 4571"/>
            </a:avLst>
          </a:prstGeom>
          <a:solidFill>
            <a:srgbClr val="F3F6FA"/>
          </a:solidFill>
          <a:ln w="9525">
            <a:solidFill>
              <a:srgbClr val="DDE3EA"/>
            </a:solidFill>
          </a:ln>
        </p:spPr>
      </p:sp>
      <p:sp>
        <p:nvSpPr>
          <p:cNvPr id="121" name="Shape 121"/>
          <p:cNvSpPr/>
          <p:nvPr/>
        </p:nvSpPr>
        <p:spPr>
          <a:xfrm>
            <a:off x="640080" y="1892808"/>
            <a:ext cx="411480" cy="411480"/>
          </a:xfrm>
          <a:prstGeom prst="ellipse">
            <a:avLst/>
          </a:prstGeom>
          <a:solidFill>
            <a:srgbClr val="1B998B"/>
          </a:solidFill>
          <a:ln w="9525">
            <a:solidFill>
              <a:srgbClr val="1B998B"/>
            </a:solidFill>
          </a:ln>
        </p:spPr>
      </p:sp>
      <p:sp>
        <p:nvSpPr>
          <p:cNvPr id="122" name="Text 122"/>
          <p:cNvSpPr txBox="1"/>
          <p:nvPr/>
        </p:nvSpPr>
        <p:spPr>
          <a:xfrm>
            <a:off x="640080" y="1892808"/>
            <a:ext cx="411480" cy="411480"/>
          </a:xfrm>
          <a:prstGeom prst="rect">
            <a:avLst/>
          </a:prstGeom>
          <a:noFill/>
        </p:spPr>
        <p:txBody>
          <a:bodyPr wrap="square" lIns="0" tIns="0" rIns="0" bIns="0" rtlCol="0" anchor="ctr"/>
          <a:lstStyle/>
          <a:p>
            <a:pPr marL="0" indent="0" algn="ctr">
              <a:spcAft>
                <a:spcPts val="0"/>
              </a:spcAft>
              <a:buNone/>
            </a:pPr>
            <a:r>
              <a:rPr lang="en-US" sz="1400" b="1" dirty="0">
                <a:solidFill>
                  <a:srgbClr val="FFFFFF"/>
                </a:solidFill>
                <a:latin typeface="Calibri" pitchFamily="34" charset="0"/>
                <a:ea typeface="Calibri" pitchFamily="34" charset="-122"/>
                <a:cs typeface="Calibri" pitchFamily="34" charset="-120"/>
              </a:rPr>
              <a:t>2</a:t>
            </a:r>
          </a:p>
        </p:txBody>
      </p:sp>
      <p:sp>
        <p:nvSpPr>
          <p:cNvPr id="123" name="Text 123"/>
          <p:cNvSpPr txBox="1"/>
          <p:nvPr/>
        </p:nvSpPr>
        <p:spPr>
          <a:xfrm>
            <a:off x="1234440" y="1810512"/>
            <a:ext cx="7269480" cy="576072"/>
          </a:xfrm>
          <a:prstGeom prst="rect">
            <a:avLst/>
          </a:prstGeom>
          <a:noFill/>
        </p:spPr>
        <p:txBody>
          <a:bodyPr wrap="square" lIns="0" tIns="0" rIns="0" bIns="0" rtlCol="0" anchor="ctr"/>
          <a:lstStyle/>
          <a:p>
            <a:pPr marL="0" indent="0" algn="l">
              <a:spcAft>
                <a:spcPts val="0"/>
              </a:spcAft>
              <a:buNone/>
            </a:pPr>
            <a:r>
              <a:rPr lang="en-US" sz="1400" b="0" dirty="0">
                <a:solidFill>
                  <a:srgbClr val="1F2937"/>
                </a:solidFill>
                <a:latin typeface="Calibri" pitchFamily="34" charset="0"/>
                <a:ea typeface="Calibri" pitchFamily="34" charset="-122"/>
                <a:cs typeface="Calibri" pitchFamily="34" charset="-120"/>
              </a:rPr>
              <a:t>Find seasonal, weekly and time-of-day patterns</a:t>
            </a:r>
          </a:p>
        </p:txBody>
      </p:sp>
      <p:sp>
        <p:nvSpPr>
          <p:cNvPr id="124" name="Shape 124"/>
          <p:cNvSpPr/>
          <p:nvPr/>
        </p:nvSpPr>
        <p:spPr>
          <a:xfrm>
            <a:off x="457200" y="2478024"/>
            <a:ext cx="8229600" cy="576072"/>
          </a:xfrm>
          <a:prstGeom prst="roundRect">
            <a:avLst>
              <a:gd name="adj" fmla="val 4571"/>
            </a:avLst>
          </a:prstGeom>
          <a:solidFill>
            <a:srgbClr val="F3F6FA"/>
          </a:solidFill>
          <a:ln w="9525">
            <a:solidFill>
              <a:srgbClr val="DDE3EA"/>
            </a:solidFill>
          </a:ln>
        </p:spPr>
      </p:sp>
      <p:sp>
        <p:nvSpPr>
          <p:cNvPr id="125" name="Shape 125"/>
          <p:cNvSpPr/>
          <p:nvPr/>
        </p:nvSpPr>
        <p:spPr>
          <a:xfrm>
            <a:off x="640080" y="2560320"/>
            <a:ext cx="411480" cy="411480"/>
          </a:xfrm>
          <a:prstGeom prst="ellipse">
            <a:avLst/>
          </a:prstGeom>
          <a:solidFill>
            <a:srgbClr val="1B998B"/>
          </a:solidFill>
          <a:ln w="9525">
            <a:solidFill>
              <a:srgbClr val="1B998B"/>
            </a:solidFill>
          </a:ln>
        </p:spPr>
      </p:sp>
      <p:sp>
        <p:nvSpPr>
          <p:cNvPr id="126" name="Text 126"/>
          <p:cNvSpPr txBox="1"/>
          <p:nvPr/>
        </p:nvSpPr>
        <p:spPr>
          <a:xfrm>
            <a:off x="640080" y="2560320"/>
            <a:ext cx="411480" cy="411480"/>
          </a:xfrm>
          <a:prstGeom prst="rect">
            <a:avLst/>
          </a:prstGeom>
          <a:noFill/>
        </p:spPr>
        <p:txBody>
          <a:bodyPr wrap="square" lIns="0" tIns="0" rIns="0" bIns="0" rtlCol="0" anchor="ctr"/>
          <a:lstStyle/>
          <a:p>
            <a:pPr marL="0" indent="0" algn="ctr">
              <a:spcAft>
                <a:spcPts val="0"/>
              </a:spcAft>
              <a:buNone/>
            </a:pPr>
            <a:r>
              <a:rPr lang="en-US" sz="1400" b="1" dirty="0">
                <a:solidFill>
                  <a:srgbClr val="FFFFFF"/>
                </a:solidFill>
                <a:latin typeface="Calibri" pitchFamily="34" charset="0"/>
                <a:ea typeface="Calibri" pitchFamily="34" charset="-122"/>
                <a:cs typeface="Calibri" pitchFamily="34" charset="-120"/>
              </a:rPr>
              <a:t>3</a:t>
            </a:r>
          </a:p>
        </p:txBody>
      </p:sp>
      <p:sp>
        <p:nvSpPr>
          <p:cNvPr id="127" name="Text 127"/>
          <p:cNvSpPr txBox="1"/>
          <p:nvPr/>
        </p:nvSpPr>
        <p:spPr>
          <a:xfrm>
            <a:off x="1234440" y="2478024"/>
            <a:ext cx="7269480" cy="576072"/>
          </a:xfrm>
          <a:prstGeom prst="rect">
            <a:avLst/>
          </a:prstGeom>
          <a:noFill/>
        </p:spPr>
        <p:txBody>
          <a:bodyPr wrap="square" lIns="0" tIns="0" rIns="0" bIns="0" rtlCol="0" anchor="ctr"/>
          <a:lstStyle/>
          <a:p>
            <a:pPr marL="0" indent="0" algn="l">
              <a:spcAft>
                <a:spcPts val="0"/>
              </a:spcAft>
              <a:buNone/>
            </a:pPr>
            <a:r>
              <a:rPr lang="en-US" sz="1400" b="0" dirty="0">
                <a:solidFill>
                  <a:srgbClr val="1F2937"/>
                </a:solidFill>
                <a:latin typeface="Calibri" pitchFamily="34" charset="0"/>
                <a:ea typeface="Calibri" pitchFamily="34" charset="-122"/>
                <a:cs typeface="Calibri" pitchFamily="34" charset="-120"/>
              </a:rPr>
              <a:t>Identify the main causes of delay and cancellation</a:t>
            </a:r>
          </a:p>
        </p:txBody>
      </p:sp>
      <p:sp>
        <p:nvSpPr>
          <p:cNvPr id="128" name="Shape 128"/>
          <p:cNvSpPr/>
          <p:nvPr/>
        </p:nvSpPr>
        <p:spPr>
          <a:xfrm>
            <a:off x="457200" y="3145536"/>
            <a:ext cx="8229600" cy="576072"/>
          </a:xfrm>
          <a:prstGeom prst="roundRect">
            <a:avLst>
              <a:gd name="adj" fmla="val 4571"/>
            </a:avLst>
          </a:prstGeom>
          <a:solidFill>
            <a:srgbClr val="F3F6FA"/>
          </a:solidFill>
          <a:ln w="9525">
            <a:solidFill>
              <a:srgbClr val="DDE3EA"/>
            </a:solidFill>
          </a:ln>
        </p:spPr>
      </p:sp>
      <p:sp>
        <p:nvSpPr>
          <p:cNvPr id="129" name="Shape 129"/>
          <p:cNvSpPr/>
          <p:nvPr/>
        </p:nvSpPr>
        <p:spPr>
          <a:xfrm>
            <a:off x="640080" y="3227832"/>
            <a:ext cx="411480" cy="411480"/>
          </a:xfrm>
          <a:prstGeom prst="ellipse">
            <a:avLst/>
          </a:prstGeom>
          <a:solidFill>
            <a:srgbClr val="1B998B"/>
          </a:solidFill>
          <a:ln w="9525">
            <a:solidFill>
              <a:srgbClr val="1B998B"/>
            </a:solidFill>
          </a:ln>
        </p:spPr>
      </p:sp>
      <p:sp>
        <p:nvSpPr>
          <p:cNvPr id="130" name="Text 130"/>
          <p:cNvSpPr txBox="1"/>
          <p:nvPr/>
        </p:nvSpPr>
        <p:spPr>
          <a:xfrm>
            <a:off x="640080" y="3227832"/>
            <a:ext cx="411480" cy="411480"/>
          </a:xfrm>
          <a:prstGeom prst="rect">
            <a:avLst/>
          </a:prstGeom>
          <a:noFill/>
        </p:spPr>
        <p:txBody>
          <a:bodyPr wrap="square" lIns="0" tIns="0" rIns="0" bIns="0" rtlCol="0" anchor="ctr"/>
          <a:lstStyle/>
          <a:p>
            <a:pPr marL="0" indent="0" algn="ctr">
              <a:spcAft>
                <a:spcPts val="0"/>
              </a:spcAft>
              <a:buNone/>
            </a:pPr>
            <a:r>
              <a:rPr lang="en-US" sz="1400" b="1" dirty="0">
                <a:solidFill>
                  <a:srgbClr val="FFFFFF"/>
                </a:solidFill>
                <a:latin typeface="Calibri" pitchFamily="34" charset="0"/>
                <a:ea typeface="Calibri" pitchFamily="34" charset="-122"/>
                <a:cs typeface="Calibri" pitchFamily="34" charset="-120"/>
              </a:rPr>
              <a:t>4</a:t>
            </a:r>
          </a:p>
        </p:txBody>
      </p:sp>
      <p:sp>
        <p:nvSpPr>
          <p:cNvPr id="131" name="Text 131"/>
          <p:cNvSpPr txBox="1"/>
          <p:nvPr/>
        </p:nvSpPr>
        <p:spPr>
          <a:xfrm>
            <a:off x="1234440" y="3145536"/>
            <a:ext cx="7269480" cy="576072"/>
          </a:xfrm>
          <a:prstGeom prst="rect">
            <a:avLst/>
          </a:prstGeom>
          <a:noFill/>
        </p:spPr>
        <p:txBody>
          <a:bodyPr wrap="square" lIns="0" tIns="0" rIns="0" bIns="0" rtlCol="0" anchor="ctr"/>
          <a:lstStyle/>
          <a:p>
            <a:pPr marL="0" indent="0" algn="l">
              <a:spcAft>
                <a:spcPts val="0"/>
              </a:spcAft>
              <a:buNone/>
            </a:pPr>
            <a:r>
              <a:rPr lang="en-US" sz="1400" b="0" dirty="0">
                <a:solidFill>
                  <a:srgbClr val="1F2937"/>
                </a:solidFill>
                <a:latin typeface="Calibri" pitchFamily="34" charset="0"/>
                <a:ea typeface="Calibri" pitchFamily="34" charset="-122"/>
                <a:cs typeface="Calibri" pitchFamily="34" charset="-120"/>
              </a:rPr>
              <a:t>Understand which passengers are least satisfied and why</a:t>
            </a:r>
          </a:p>
        </p:txBody>
      </p:sp>
      <p:sp>
        <p:nvSpPr>
          <p:cNvPr id="132" name="Shape 132"/>
          <p:cNvSpPr/>
          <p:nvPr/>
        </p:nvSpPr>
        <p:spPr>
          <a:xfrm>
            <a:off x="457200" y="3813048"/>
            <a:ext cx="8229600" cy="576072"/>
          </a:xfrm>
          <a:prstGeom prst="roundRect">
            <a:avLst>
              <a:gd name="adj" fmla="val 4571"/>
            </a:avLst>
          </a:prstGeom>
          <a:solidFill>
            <a:srgbClr val="F3F6FA"/>
          </a:solidFill>
          <a:ln w="9525">
            <a:solidFill>
              <a:srgbClr val="DDE3EA"/>
            </a:solidFill>
          </a:ln>
        </p:spPr>
      </p:sp>
      <p:sp>
        <p:nvSpPr>
          <p:cNvPr id="133" name="Shape 133"/>
          <p:cNvSpPr/>
          <p:nvPr/>
        </p:nvSpPr>
        <p:spPr>
          <a:xfrm>
            <a:off x="640080" y="3895344"/>
            <a:ext cx="411480" cy="411480"/>
          </a:xfrm>
          <a:prstGeom prst="ellipse">
            <a:avLst/>
          </a:prstGeom>
          <a:solidFill>
            <a:srgbClr val="1B998B"/>
          </a:solidFill>
          <a:ln w="9525">
            <a:solidFill>
              <a:srgbClr val="1B998B"/>
            </a:solidFill>
          </a:ln>
        </p:spPr>
      </p:sp>
      <p:sp>
        <p:nvSpPr>
          <p:cNvPr id="134" name="Text 134"/>
          <p:cNvSpPr txBox="1"/>
          <p:nvPr/>
        </p:nvSpPr>
        <p:spPr>
          <a:xfrm>
            <a:off x="640080" y="3895344"/>
            <a:ext cx="411480" cy="411480"/>
          </a:xfrm>
          <a:prstGeom prst="rect">
            <a:avLst/>
          </a:prstGeom>
          <a:noFill/>
        </p:spPr>
        <p:txBody>
          <a:bodyPr wrap="square" lIns="0" tIns="0" rIns="0" bIns="0" rtlCol="0" anchor="ctr"/>
          <a:lstStyle/>
          <a:p>
            <a:pPr marL="0" indent="0" algn="ctr">
              <a:spcAft>
                <a:spcPts val="0"/>
              </a:spcAft>
              <a:buNone/>
            </a:pPr>
            <a:r>
              <a:rPr lang="en-US" sz="1400" b="1" dirty="0">
                <a:solidFill>
                  <a:srgbClr val="FFFFFF"/>
                </a:solidFill>
                <a:latin typeface="Calibri" pitchFamily="34" charset="0"/>
                <a:ea typeface="Calibri" pitchFamily="34" charset="-122"/>
                <a:cs typeface="Calibri" pitchFamily="34" charset="-120"/>
              </a:rPr>
              <a:t>5</a:t>
            </a:r>
          </a:p>
        </p:txBody>
      </p:sp>
      <p:sp>
        <p:nvSpPr>
          <p:cNvPr id="135" name="Text 135"/>
          <p:cNvSpPr txBox="1"/>
          <p:nvPr/>
        </p:nvSpPr>
        <p:spPr>
          <a:xfrm>
            <a:off x="1234440" y="3813048"/>
            <a:ext cx="7269480" cy="576072"/>
          </a:xfrm>
          <a:prstGeom prst="rect">
            <a:avLst/>
          </a:prstGeom>
          <a:noFill/>
        </p:spPr>
        <p:txBody>
          <a:bodyPr wrap="square" lIns="0" tIns="0" rIns="0" bIns="0" rtlCol="0" anchor="ctr"/>
          <a:lstStyle/>
          <a:p>
            <a:pPr marL="0" indent="0" algn="l">
              <a:spcAft>
                <a:spcPts val="0"/>
              </a:spcAft>
              <a:buNone/>
            </a:pPr>
            <a:r>
              <a:rPr lang="en-US" sz="1400" b="0" dirty="0">
                <a:solidFill>
                  <a:srgbClr val="1F2937"/>
                </a:solidFill>
                <a:latin typeface="Calibri" pitchFamily="34" charset="0"/>
                <a:ea typeface="Calibri" pitchFamily="34" charset="-122"/>
                <a:cs typeface="Calibri" pitchFamily="34" charset="-120"/>
              </a:rPr>
              <a:t>Turn findings into clear, actionable recommendations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About the data</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6</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sp>
        <p:nvSpPr>
          <p:cNvPr id="136" name="Shape 136"/>
          <p:cNvSpPr/>
          <p:nvPr/>
        </p:nvSpPr>
        <p:spPr>
          <a:xfrm>
            <a:off x="457200" y="1143000"/>
            <a:ext cx="4023360" cy="2514600"/>
          </a:xfrm>
          <a:prstGeom prst="roundRect">
            <a:avLst>
              <a:gd name="adj" fmla="val 4571"/>
            </a:avLst>
          </a:prstGeom>
          <a:solidFill>
            <a:srgbClr val="F3F6FA"/>
          </a:solidFill>
          <a:ln w="9525">
            <a:solidFill>
              <a:srgbClr val="DDE3EA"/>
            </a:solidFill>
          </a:ln>
        </p:spPr>
      </p:sp>
      <p:sp>
        <p:nvSpPr>
          <p:cNvPr id="137" name="Text 137"/>
          <p:cNvSpPr txBox="1"/>
          <p:nvPr/>
        </p:nvSpPr>
        <p:spPr>
          <a:xfrm>
            <a:off x="640080" y="1280160"/>
            <a:ext cx="3657600" cy="320040"/>
          </a:xfrm>
          <a:prstGeom prst="rect">
            <a:avLst/>
          </a:prstGeom>
          <a:noFill/>
        </p:spPr>
        <p:txBody>
          <a:bodyPr wrap="square" lIns="0" tIns="0" rIns="0" bIns="0" rtlCol="0" anchor="ctr"/>
          <a:lstStyle/>
          <a:p>
            <a:pPr marL="0" indent="0" algn="l">
              <a:spcAft>
                <a:spcPts val="0"/>
              </a:spcAft>
              <a:buNone/>
            </a:pPr>
            <a:r>
              <a:rPr lang="en-US" sz="1400" b="1" dirty="0">
                <a:solidFill>
                  <a:srgbClr val="0B2545"/>
                </a:solidFill>
                <a:latin typeface="Calibri" pitchFamily="34" charset="0"/>
                <a:ea typeface="Calibri" pitchFamily="34" charset="-122"/>
                <a:cs typeface="Calibri" pitchFamily="34" charset="-120"/>
              </a:rPr>
              <a:t>Flights 2015 (US DOT)</a:t>
            </a:r>
          </a:p>
        </p:txBody>
      </p:sp>
      <p:sp>
        <p:nvSpPr>
          <p:cNvPr id="138" name="Text 138"/>
          <p:cNvSpPr txBox="1"/>
          <p:nvPr/>
        </p:nvSpPr>
        <p:spPr>
          <a:xfrm>
            <a:off x="640080" y="1645920"/>
            <a:ext cx="3657600" cy="457200"/>
          </a:xfrm>
          <a:prstGeom prst="rect">
            <a:avLst/>
          </a:prstGeom>
          <a:noFill/>
        </p:spPr>
        <p:txBody>
          <a:bodyPr wrap="square" lIns="0" tIns="0" rIns="0" bIns="0" rtlCol="0" anchor="ctr"/>
          <a:lstStyle/>
          <a:p>
            <a:pPr marL="0" indent="0" algn="l">
              <a:spcAft>
                <a:spcPts val="0"/>
              </a:spcAft>
              <a:buNone/>
            </a:pPr>
            <a:r>
              <a:rPr lang="en-US" sz="2800" b="1" dirty="0">
                <a:solidFill>
                  <a:srgbClr val="1B998B"/>
                </a:solidFill>
                <a:latin typeface="Calibri" pitchFamily="34" charset="0"/>
                <a:ea typeface="Calibri" pitchFamily="34" charset="-122"/>
                <a:cs typeface="Calibri" pitchFamily="34" charset="-120"/>
              </a:rPr>
              <a:t>5,819,079</a:t>
            </a:r>
          </a:p>
        </p:txBody>
      </p:sp>
      <p:sp>
        <p:nvSpPr>
          <p:cNvPr id="139" name="Text 139"/>
          <p:cNvSpPr txBox="1"/>
          <p:nvPr/>
        </p:nvSpPr>
        <p:spPr>
          <a:xfrm>
            <a:off x="640080" y="2103120"/>
            <a:ext cx="3657600" cy="228600"/>
          </a:xfrm>
          <a:prstGeom prst="rect">
            <a:avLst/>
          </a:prstGeom>
          <a:noFill/>
        </p:spPr>
        <p:txBody>
          <a:bodyPr wrap="square" lIns="0" tIns="0" rIns="0" bIns="0" rtlCol="0" anchor="t"/>
          <a:lstStyle/>
          <a:p>
            <a:pPr marL="0" indent="0" algn="l">
              <a:spcAft>
                <a:spcPts val="0"/>
              </a:spcAft>
              <a:buNone/>
            </a:pPr>
            <a:r>
              <a:rPr lang="en-US" sz="1200" b="0" dirty="0">
                <a:solidFill>
                  <a:srgbClr val="6B7280"/>
                </a:solidFill>
                <a:latin typeface="Calibri" pitchFamily="34" charset="0"/>
                <a:ea typeface="Calibri" pitchFamily="34" charset="-122"/>
                <a:cs typeface="Calibri" pitchFamily="34" charset="-120"/>
              </a:rPr>
              <a:t>flight records</a:t>
            </a:r>
          </a:p>
        </p:txBody>
      </p:sp>
      <p:sp>
        <p:nvSpPr>
          <p:cNvPr id="140" name="Text 140"/>
          <p:cNvSpPr txBox="1"/>
          <p:nvPr/>
        </p:nvSpPr>
        <p:spPr>
          <a:xfrm>
            <a:off x="640080" y="2423160"/>
            <a:ext cx="3657600" cy="1143000"/>
          </a:xfrm>
          <a:prstGeom prst="rect">
            <a:avLst/>
          </a:prstGeom>
          <a:noFill/>
        </p:spPr>
        <p:txBody>
          <a:bodyPr wrap="square" lIns="0" tIns="0" rIns="0" bIns="0" rtlCol="0" anchor="t"/>
          <a:lstStyle/>
          <a:p>
            <a:pPr marL="228600" indent="-228600" algn="l">
              <a:spcAft>
                <a:spcPts val="500"/>
              </a:spcAft>
              <a:buSzPct val="100000"/>
              <a:buChar char="•"/>
            </a:pPr>
            <a:r>
              <a:rPr lang="en-US" sz="1250" b="0" dirty="0">
                <a:solidFill>
                  <a:srgbClr val="1F2937"/>
                </a:solidFill>
                <a:latin typeface="Calibri" pitchFamily="34" charset="0"/>
                <a:ea typeface="Calibri" pitchFamily="34" charset="-122"/>
                <a:cs typeface="Calibri" pitchFamily="34" charset="-120"/>
              </a:rPr>
              <a:t>14 airlines, with airport and cancellation code tables</a:t>
            </a:r>
          </a:p>
          <a:p>
            <a:pPr marL="228600" indent="-228600" algn="l">
              <a:spcAft>
                <a:spcPts val="500"/>
              </a:spcAft>
              <a:buSzPct val="100000"/>
              <a:buChar char="•"/>
            </a:pPr>
            <a:r>
              <a:rPr lang="en-US" sz="1250" b="0" dirty="0">
                <a:solidFill>
                  <a:srgbClr val="1F2937"/>
                </a:solidFill>
                <a:latin typeface="Calibri" pitchFamily="34" charset="0"/>
                <a:ea typeface="Calibri" pitchFamily="34" charset="-122"/>
                <a:cs typeface="Calibri" pitchFamily="34" charset="-120"/>
              </a:rPr>
              <a:t>Delays, cancellations, diversions and delay causes</a:t>
            </a:r>
          </a:p>
          <a:p>
            <a:pPr marL="228600" indent="-228600" algn="l">
              <a:spcAft>
                <a:spcPts val="500"/>
              </a:spcAft>
              <a:buSzPct val="100000"/>
              <a:buChar char="•"/>
            </a:pPr>
            <a:r>
              <a:rPr lang="en-US" sz="1250" b="0" dirty="0">
                <a:solidFill>
                  <a:srgbClr val="1F2937"/>
                </a:solidFill>
                <a:latin typeface="Calibri" pitchFamily="34" charset="0"/>
                <a:ea typeface="Calibri" pitchFamily="34" charset="-122"/>
                <a:cs typeface="Calibri" pitchFamily="34" charset="-120"/>
              </a:rPr>
              <a:t>Used to measure reliability and find causes</a:t>
            </a:r>
          </a:p>
        </p:txBody>
      </p:sp>
      <p:sp>
        <p:nvSpPr>
          <p:cNvPr id="141" name="Shape 141"/>
          <p:cNvSpPr/>
          <p:nvPr/>
        </p:nvSpPr>
        <p:spPr>
          <a:xfrm>
            <a:off x="4663440" y="1143000"/>
            <a:ext cx="4023360" cy="2514600"/>
          </a:xfrm>
          <a:prstGeom prst="roundRect">
            <a:avLst>
              <a:gd name="adj" fmla="val 4571"/>
            </a:avLst>
          </a:prstGeom>
          <a:solidFill>
            <a:srgbClr val="F3F6FA"/>
          </a:solidFill>
          <a:ln w="9525">
            <a:solidFill>
              <a:srgbClr val="DDE3EA"/>
            </a:solidFill>
          </a:ln>
        </p:spPr>
      </p:sp>
      <p:sp>
        <p:nvSpPr>
          <p:cNvPr id="142" name="Text 142"/>
          <p:cNvSpPr txBox="1"/>
          <p:nvPr/>
        </p:nvSpPr>
        <p:spPr>
          <a:xfrm>
            <a:off x="4846320" y="1280160"/>
            <a:ext cx="3657600" cy="320040"/>
          </a:xfrm>
          <a:prstGeom prst="rect">
            <a:avLst/>
          </a:prstGeom>
          <a:noFill/>
        </p:spPr>
        <p:txBody>
          <a:bodyPr wrap="square" lIns="0" tIns="0" rIns="0" bIns="0" rtlCol="0" anchor="ctr"/>
          <a:lstStyle/>
          <a:p>
            <a:pPr marL="0" indent="0" algn="l">
              <a:spcAft>
                <a:spcPts val="0"/>
              </a:spcAft>
              <a:buNone/>
            </a:pPr>
            <a:r>
              <a:rPr lang="en-US" sz="1400" b="1" dirty="0">
                <a:solidFill>
                  <a:srgbClr val="0B2545"/>
                </a:solidFill>
                <a:latin typeface="Calibri" pitchFamily="34" charset="0"/>
                <a:ea typeface="Calibri" pitchFamily="34" charset="-122"/>
                <a:cs typeface="Calibri" pitchFamily="34" charset="-120"/>
              </a:rPr>
              <a:t>Passenger satisfaction survey</a:t>
            </a:r>
          </a:p>
        </p:txBody>
      </p:sp>
      <p:sp>
        <p:nvSpPr>
          <p:cNvPr id="143" name="Text 143"/>
          <p:cNvSpPr txBox="1"/>
          <p:nvPr/>
        </p:nvSpPr>
        <p:spPr>
          <a:xfrm>
            <a:off x="4846320" y="1645920"/>
            <a:ext cx="3657600" cy="457200"/>
          </a:xfrm>
          <a:prstGeom prst="rect">
            <a:avLst/>
          </a:prstGeom>
          <a:noFill/>
        </p:spPr>
        <p:txBody>
          <a:bodyPr wrap="square" lIns="0" tIns="0" rIns="0" bIns="0" rtlCol="0" anchor="ctr"/>
          <a:lstStyle/>
          <a:p>
            <a:pPr marL="0" indent="0" algn="l">
              <a:spcAft>
                <a:spcPts val="0"/>
              </a:spcAft>
              <a:buNone/>
            </a:pPr>
            <a:r>
              <a:rPr lang="en-US" sz="2800" b="1" dirty="0">
                <a:solidFill>
                  <a:srgbClr val="1B998B"/>
                </a:solidFill>
                <a:latin typeface="Calibri" pitchFamily="34" charset="0"/>
                <a:ea typeface="Calibri" pitchFamily="34" charset="-122"/>
                <a:cs typeface="Calibri" pitchFamily="34" charset="-120"/>
              </a:rPr>
              <a:t>129,880</a:t>
            </a:r>
          </a:p>
        </p:txBody>
      </p:sp>
      <p:sp>
        <p:nvSpPr>
          <p:cNvPr id="144" name="Text 144"/>
          <p:cNvSpPr txBox="1"/>
          <p:nvPr/>
        </p:nvSpPr>
        <p:spPr>
          <a:xfrm>
            <a:off x="4846320" y="2103120"/>
            <a:ext cx="3657600" cy="228600"/>
          </a:xfrm>
          <a:prstGeom prst="rect">
            <a:avLst/>
          </a:prstGeom>
          <a:noFill/>
        </p:spPr>
        <p:txBody>
          <a:bodyPr wrap="square" lIns="0" tIns="0" rIns="0" bIns="0" rtlCol="0" anchor="t"/>
          <a:lstStyle/>
          <a:p>
            <a:pPr marL="0" indent="0" algn="l">
              <a:spcAft>
                <a:spcPts val="0"/>
              </a:spcAft>
              <a:buNone/>
            </a:pPr>
            <a:r>
              <a:rPr lang="en-US" sz="1200" b="0" dirty="0">
                <a:solidFill>
                  <a:srgbClr val="6B7280"/>
                </a:solidFill>
                <a:latin typeface="Calibri" pitchFamily="34" charset="0"/>
                <a:ea typeface="Calibri" pitchFamily="34" charset="-122"/>
                <a:cs typeface="Calibri" pitchFamily="34" charset="-120"/>
              </a:rPr>
              <a:t>passenger responses</a:t>
            </a:r>
          </a:p>
        </p:txBody>
      </p:sp>
      <p:sp>
        <p:nvSpPr>
          <p:cNvPr id="145" name="Text 145"/>
          <p:cNvSpPr txBox="1"/>
          <p:nvPr/>
        </p:nvSpPr>
        <p:spPr>
          <a:xfrm>
            <a:off x="4846320" y="2423160"/>
            <a:ext cx="3657600" cy="1143000"/>
          </a:xfrm>
          <a:prstGeom prst="rect">
            <a:avLst/>
          </a:prstGeom>
          <a:noFill/>
        </p:spPr>
        <p:txBody>
          <a:bodyPr wrap="square" lIns="0" tIns="0" rIns="0" bIns="0" rtlCol="0" anchor="t"/>
          <a:lstStyle/>
          <a:p>
            <a:pPr marL="228600" indent="-228600" algn="l">
              <a:spcAft>
                <a:spcPts val="500"/>
              </a:spcAft>
              <a:buSzPct val="100000"/>
              <a:buChar char="•"/>
            </a:pPr>
            <a:r>
              <a:rPr lang="en-US" sz="1250" b="0" dirty="0">
                <a:solidFill>
                  <a:srgbClr val="1F2937"/>
                </a:solidFill>
                <a:latin typeface="Calibri" pitchFamily="34" charset="0"/>
                <a:ea typeface="Calibri" pitchFamily="34" charset="-122"/>
                <a:cs typeface="Calibri" pitchFamily="34" charset="-120"/>
              </a:rPr>
              <a:t>14 service ratings on a 1 to 5 scale</a:t>
            </a:r>
          </a:p>
          <a:p>
            <a:pPr marL="228600" indent="-228600" algn="l">
              <a:spcAft>
                <a:spcPts val="500"/>
              </a:spcAft>
              <a:buSzPct val="100000"/>
              <a:buChar char="•"/>
            </a:pPr>
            <a:r>
              <a:rPr lang="en-US" sz="1250" b="0" dirty="0">
                <a:solidFill>
                  <a:srgbClr val="1F2937"/>
                </a:solidFill>
                <a:latin typeface="Calibri" pitchFamily="34" charset="0"/>
                <a:ea typeface="Calibri" pitchFamily="34" charset="-122"/>
                <a:cs typeface="Calibri" pitchFamily="34" charset="-120"/>
              </a:rPr>
              <a:t>Class, travel purpose, age, customer type and delays</a:t>
            </a:r>
          </a:p>
          <a:p>
            <a:pPr marL="228600" indent="-228600" algn="l">
              <a:spcAft>
                <a:spcPts val="500"/>
              </a:spcAft>
              <a:buSzPct val="100000"/>
              <a:buChar char="•"/>
            </a:pPr>
            <a:r>
              <a:rPr lang="en-US" sz="1250" b="0" dirty="0">
                <a:solidFill>
                  <a:srgbClr val="1F2937"/>
                </a:solidFill>
                <a:latin typeface="Calibri" pitchFamily="34" charset="0"/>
                <a:ea typeface="Calibri" pitchFamily="34" charset="-122"/>
                <a:cs typeface="Calibri" pitchFamily="34" charset="-120"/>
              </a:rPr>
              <a:t>Used to find who is unhappy and why</a:t>
            </a:r>
          </a:p>
        </p:txBody>
      </p:sp>
      <p:sp>
        <p:nvSpPr>
          <p:cNvPr id="146" name="Shape 146"/>
          <p:cNvSpPr/>
          <p:nvPr/>
        </p:nvSpPr>
        <p:spPr>
          <a:xfrm>
            <a:off x="457200" y="3794760"/>
            <a:ext cx="8229600" cy="777240"/>
          </a:xfrm>
          <a:prstGeom prst="roundRect">
            <a:avLst>
              <a:gd name="adj" fmla="val 4571"/>
            </a:avLst>
          </a:prstGeom>
          <a:solidFill>
            <a:srgbClr val="F3F6FA"/>
          </a:solidFill>
          <a:ln w="9525">
            <a:solidFill>
              <a:srgbClr val="DDE3EA"/>
            </a:solidFill>
          </a:ln>
        </p:spPr>
      </p:sp>
      <p:sp>
        <p:nvSpPr>
          <p:cNvPr id="147" name="Text 147"/>
          <p:cNvSpPr txBox="1"/>
          <p:nvPr/>
        </p:nvSpPr>
        <p:spPr>
          <a:xfrm>
            <a:off x="640080" y="3840480"/>
            <a:ext cx="7863840" cy="685800"/>
          </a:xfrm>
          <a:prstGeom prst="rect">
            <a:avLst/>
          </a:prstGeom>
          <a:noFill/>
        </p:spPr>
        <p:txBody>
          <a:bodyPr wrap="square" lIns="0" tIns="0" rIns="0" bIns="0" rtlCol="0" anchor="ctr"/>
          <a:lstStyle/>
          <a:p>
            <a:pPr marL="0" indent="0" algn="l">
              <a:spcAft>
                <a:spcPts val="300"/>
              </a:spcAft>
              <a:buNone/>
            </a:pPr>
            <a:r>
              <a:rPr lang="en-US" sz="1250" b="1" dirty="0">
                <a:solidFill>
                  <a:srgbClr val="0B2545"/>
                </a:solidFill>
                <a:latin typeface="Calibri" pitchFamily="34" charset="0"/>
                <a:ea typeface="Calibri" pitchFamily="34" charset="-122"/>
                <a:cs typeface="Calibri" pitchFamily="34" charset="-120"/>
              </a:rPr>
              <a:t>Tools: MySQL 8 | MySQL Workbench | Power BI Desktop</a:t>
            </a:r>
          </a:p>
          <a:p>
            <a:pPr marL="0" indent="0" algn="l">
              <a:spcAft>
                <a:spcPts val="0"/>
              </a:spcAft>
              <a:buNone/>
            </a:pPr>
            <a:r>
              <a:rPr lang="en-US" sz="1200" b="0" dirty="0">
                <a:solidFill>
                  <a:srgbClr val="1F2937"/>
                </a:solidFill>
                <a:latin typeface="Calibri" pitchFamily="34" charset="0"/>
                <a:ea typeface="Calibri" pitchFamily="34" charset="-122"/>
                <a:cs typeface="Calibri" pitchFamily="34" charset="-120"/>
              </a:rPr>
              <a:t>The survey has no airline field, so the two datasets cannot be joined and are analysed side by side. Original tables were left untouched; cleaning rules sit inside the queries and views.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Data quality checks and cleaning</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7</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743200"/>
        </p:xfrm>
        <a:graphic>
          <a:graphicData uri="http://schemas.openxmlformats.org/drawingml/2006/table">
            <a:tbl>
              <a:tblPr/>
              <a:tblGrid>
                <a:gridCol w="34747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Issue found</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Rows affected</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Action taken</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Missing arrival delay in survey</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393</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Stored as NULL; shown as "Unknown", not as on time</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Cancelled flights have no delay values</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89,884</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Excluded from all delay analysis</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5-digit airport codes instead of 3-letter codes</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486,165</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Excluded from airport-level analysis</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Rating of 0 means "Not applicable"</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3,080 (online boarding)</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Treated as missing, not as a low score</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Duplicate passenger IDs</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No action needed</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2"/>
          <p:cNvSpPr txBox="1"/>
          <p:nvPr/>
        </p:nvSpPr>
        <p:spPr>
          <a:xfrm>
            <a:off x="457200" y="4114800"/>
            <a:ext cx="8229600" cy="45720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 original tables were left untouched. Cleaning rules are applied inside the queries and views, so every result is reproducible.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How many flights operated in 2015, and what share were cancelled or diverted?</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1"/>
          <p:cNvPicPr>
            <a:picLocks noChangeAspect="1"/>
          </p:cNvPicPr>
          <p:nvPr/>
        </p:nvPicPr>
        <p:blipFill>
          <a:blip r:embed="rId2"/>
          <a:stretch>
            <a:fillRect/>
          </a:stretch>
        </p:blipFill>
        <p:spPr>
          <a:xfrm>
            <a:off x="594360" y="2377440"/>
            <a:ext cx="4937760" cy="917336"/>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Of 5.8 million flights in 2015, 1.54% were cancelled and 0.26% were diverted. Disruptions are a small share of total traffic, but they still affect about 90,000 cancelled flights and their passengers.</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airlines are the most and least punctual?</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2"/>
          <p:cNvPicPr>
            <a:picLocks noChangeAspect="1"/>
          </p:cNvPicPr>
          <p:nvPr/>
        </p:nvPicPr>
        <p:blipFill>
          <a:blip r:embed="rId2"/>
          <a:stretch>
            <a:fillRect/>
          </a:stretch>
        </p:blipFill>
        <p:spPr>
          <a:xfrm>
            <a:off x="639565" y="2103120"/>
            <a:ext cx="4847350" cy="2468880"/>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Hawaiian Airlines is the most punctual carrier, with 10.53% of flights arriving more than 15 minutes late, while Spirit is the least punctual at 28.79%. The gap of about 18 percentage points shows that delay performance varies widely between airlines.</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airlines cancel the largest share of their flights?</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3"/>
          <p:cNvPicPr>
            <a:picLocks noChangeAspect="1"/>
          </p:cNvPicPr>
          <p:nvPr/>
        </p:nvPicPr>
        <p:blipFill>
          <a:blip r:embed="rId2"/>
          <a:stretch>
            <a:fillRect/>
          </a:stretch>
        </p:blipFill>
        <p:spPr>
          <a:xfrm>
            <a:off x="1003528" y="2103120"/>
            <a:ext cx="4119423" cy="2468880"/>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American Eagle cancels 5.10% of its flights, roughly 23 times the rate of Hawaiian Airlines (0.22%). Regional carriers sit at the top of the cancellation ranking, so they should be the priority for reliability improvement.</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Why are flights cancelled, and how much of it is within the airline's control?</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4"/>
          <p:cNvPicPr>
            <a:picLocks noChangeAspect="1"/>
          </p:cNvPicPr>
          <p:nvPr/>
        </p:nvPicPr>
        <p:blipFill>
          <a:blip r:embed="rId3"/>
          <a:stretch>
            <a:fillRect/>
          </a:stretch>
        </p:blipFill>
        <p:spPr>
          <a:xfrm>
            <a:off x="594360" y="2478771"/>
            <a:ext cx="4937760" cy="1626137"/>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Weather caused 54.3% of all cancellations, which airlines cannot control. However, 28.1% (25,262 flights) were caused by the airlines themselves, which is the portion that better crew planning, maintenance scheduling, and operations management can reduce.</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How do cancellations and delays change from month to month, and which months are the worst?</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5"/>
          <p:cNvPicPr>
            <a:picLocks noChangeAspect="1"/>
          </p:cNvPicPr>
          <p:nvPr/>
        </p:nvPicPr>
        <p:blipFill>
          <a:blip r:embed="rId3"/>
          <a:stretch>
            <a:fillRect/>
          </a:stretch>
        </p:blipFill>
        <p:spPr>
          <a:xfrm>
            <a:off x="594360" y="2181801"/>
            <a:ext cx="4937760" cy="2220078"/>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Performance is strongly seasonal. February is the worst month for cancellations (4.78%, roughly 10 times the October rate), and June is the worst for delays (22.73%), which points to winter storms and summer thunderstorms plus peak travel. September and October are the most reliable months, so airlines can plan extra crew and standby capacity for winter and early summer.</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days of the week have the highest share of delayed flights?</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6"/>
          <p:cNvPicPr>
            <a:picLocks noChangeAspect="1"/>
          </p:cNvPicPr>
          <p:nvPr/>
        </p:nvPicPr>
        <p:blipFill>
          <a:blip r:embed="rId3"/>
          <a:stretch>
            <a:fillRect/>
          </a:stretch>
        </p:blipFill>
        <p:spPr>
          <a:xfrm>
            <a:off x="594360" y="2218164"/>
            <a:ext cx="4937760" cy="2147351"/>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Delays peak on Thursday (19.25%) and Monday (19.07%), which are heavy business-travel days, while Saturday is the most punctual (15.38%). The gap is about 4 percentage points, so day-of-week matters, but much less than month or time of day.</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At what time of day are flights most likely to be delayed?</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7"/>
          <p:cNvPicPr>
            <a:picLocks noChangeAspect="1"/>
          </p:cNvPicPr>
          <p:nvPr/>
        </p:nvPicPr>
        <p:blipFill>
          <a:blip r:embed="rId3"/>
          <a:stretch>
            <a:fillRect/>
          </a:stretch>
        </p:blipFill>
        <p:spPr>
          <a:xfrm>
            <a:off x="594360" y="2506287"/>
            <a:ext cx="4937760" cy="1571105"/>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Delays build up through the day. Morning flights are delayed 12.49% of the time, but evening flights 24.54%, almost double. Late departures cause knock-on delays for later flights, so scheduling more buffer time in the afternoon and evening, and encouraging passengers to book morning flights, would improve punctuality.</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cause accounts for the largest share of total delay minutes?</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8"/>
          <p:cNvPicPr>
            <a:picLocks noChangeAspect="1"/>
          </p:cNvPicPr>
          <p:nvPr/>
        </p:nvPicPr>
        <p:blipFill>
          <a:blip r:embed="rId3"/>
          <a:stretch>
            <a:fillRect/>
          </a:stretch>
        </p:blipFill>
        <p:spPr>
          <a:xfrm>
            <a:off x="594360" y="2239882"/>
            <a:ext cx="4937760" cy="2103915"/>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Late-arriving aircraft cause the largest share of delay minutes (39.8%), followed by problems within the airline's own control (32.2%). Weather accounts for only 4.9% of delay minutes. Together, aircraft rotation and airline operations explain more than 70% of delay time, so better turnaround planning and maintenance scheduling are the biggest improvement levers.</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large airports have the highest share of delayed departures?</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9"/>
          <p:cNvPicPr>
            <a:picLocks noChangeAspect="1"/>
          </p:cNvPicPr>
          <p:nvPr/>
        </p:nvPicPr>
        <p:blipFill>
          <a:blip r:embed="rId3"/>
          <a:stretch>
            <a:fillRect/>
          </a:stretch>
        </p:blipFill>
        <p:spPr>
          <a:xfrm>
            <a:off x="594360" y="2456505"/>
            <a:ext cx="4937760" cy="1670671"/>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Chicago O'Hare (ORD) and New York LaGuardia (LGA) have the highest delay rates, with about 23% of flights arriving late. Hawaii airports are among the best (HNL at 10.10%). Airports are filtered to those with at least 20,000 flights so that small airports with few flights do not distort the ranking.</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airlines perform better or worse than the industry average for delays?</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10"/>
          <p:cNvPicPr>
            <a:picLocks noChangeAspect="1"/>
          </p:cNvPicPr>
          <p:nvPr/>
        </p:nvPicPr>
        <p:blipFill>
          <a:blip r:embed="rId3"/>
          <a:stretch>
            <a:fillRect/>
          </a:stretch>
        </p:blipFill>
        <p:spPr>
          <a:xfrm>
            <a:off x="594360" y="2274045"/>
            <a:ext cx="4937760" cy="2035590"/>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Against the industry average of 17.91% late flights, Hawaiian, Alaska and Delta outperform by a wide margin, while Spirit and Frontier lag by 7 to 11 points. Comparing each airline with the industry baseline makes the ranking easier to act on than raw percentages alone.</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What share of surveyed passengers are satisfied with the airline?</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11"/>
          <p:cNvPicPr>
            <a:picLocks noChangeAspect="1"/>
          </p:cNvPicPr>
          <p:nvPr/>
        </p:nvPicPr>
        <p:blipFill>
          <a:blip r:embed="rId3"/>
          <a:stretch>
            <a:fillRect/>
          </a:stretch>
        </p:blipFill>
        <p:spPr>
          <a:xfrm>
            <a:off x="594360" y="2865769"/>
            <a:ext cx="4937760" cy="852143"/>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Only 43.45% of the 129,880 surveyed passengers are satisfied, which means more than half are neutral or dissatisfied. The airline is below the 50% mark, so there is clear room to improve the passenger experience.</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types of passengers (class, travel purpose, customer type) are the most and least satisfied?</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12"/>
          <p:cNvPicPr>
            <a:picLocks noChangeAspect="1"/>
          </p:cNvPicPr>
          <p:nvPr/>
        </p:nvPicPr>
        <p:blipFill>
          <a:blip r:embed="rId3"/>
          <a:stretch>
            <a:fillRect/>
          </a:stretch>
        </p:blipFill>
        <p:spPr>
          <a:xfrm>
            <a:off x="594360" y="2367530"/>
            <a:ext cx="4937760" cy="1848620"/>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Satisfaction differs sharply by segment. Business class passengers are 69.44% satisfied versus 18.77% in Economy, and business travellers (58.37%) are far happier than personal travellers (10.13%). First-time customers (23.97%) are about half as satisfied as returning ones (47.81%), which suggests the early experience with the airline needs attention.</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age groups are the most and least satisfied?</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13"/>
          <p:cNvPicPr>
            <a:picLocks noChangeAspect="1"/>
          </p:cNvPicPr>
          <p:nvPr/>
        </p:nvPicPr>
        <p:blipFill>
          <a:blip r:embed="rId3"/>
          <a:stretch>
            <a:fillRect/>
          </a:stretch>
        </p:blipFill>
        <p:spPr>
          <a:xfrm>
            <a:off x="594360" y="2242923"/>
            <a:ext cx="4937760" cy="2097834"/>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Passengers aged 36-55 are the most satisfied (54.71%), while those under 18 are the least satisfied (16.73%). Younger passengers are far below the airline average of 43.45%, so the airline should look at the needs of young travellers, such as entertainment, wifi and booking convenience.</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Does a longer arrival delay lower passenger satisfaction?</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14"/>
          <p:cNvPicPr>
            <a:picLocks noChangeAspect="1"/>
          </p:cNvPicPr>
          <p:nvPr/>
        </p:nvPicPr>
        <p:blipFill>
          <a:blip r:embed="rId3"/>
          <a:stretch>
            <a:fillRect/>
          </a:stretch>
        </p:blipFill>
        <p:spPr>
          <a:xfrm>
            <a:off x="594360" y="2095224"/>
            <a:ext cx="4937760" cy="2393232"/>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Satisfaction falls from 47.41% for on-time flights to about 36% when the delay exceeds 30 minutes, a drop of around 12 percentage points. Even a short delay of 1-30 minutes costs about 8 points. However, more than a third of passengers on long-delayed flights are still satisfied, so delay alone does not decide satisfaction. Service quality matters more, which the next query shows.</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service factors differ the most between satisfied and unsatisfied passengers?</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15"/>
          <p:cNvPicPr>
            <a:picLocks noChangeAspect="1"/>
          </p:cNvPicPr>
          <p:nvPr/>
        </p:nvPicPr>
        <p:blipFill>
          <a:blip r:embed="rId3"/>
          <a:stretch>
            <a:fillRect/>
          </a:stretch>
        </p:blipFill>
        <p:spPr>
          <a:xfrm>
            <a:off x="594360" y="2057400"/>
            <a:ext cx="4937760" cy="2468880"/>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Online boarding is the biggest driver of satisfaction: satisfied passengers rate it 4.15 versus 2.71 for unsatisfied passengers, a gap of 1.44 points. In-flight entertainment, wifi and seat comfort follow. Gate location and flight-time convenience show almost no difference, so investing in them would not improve satisfaction. Digital boarding, entertainment and wifi should be the top investment priorities.</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For business and personal travellers, which class is the most satisfied?</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16"/>
          <p:cNvPicPr>
            <a:picLocks noChangeAspect="1"/>
          </p:cNvPicPr>
          <p:nvPr/>
        </p:nvPicPr>
        <p:blipFill>
          <a:blip r:embed="rId3"/>
          <a:stretch>
            <a:fillRect/>
          </a:stretch>
        </p:blipFill>
        <p:spPr>
          <a:xfrm>
            <a:off x="594360" y="2594031"/>
            <a:ext cx="4937760" cy="1395619"/>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Business class ranks first for both travel purposes, but personal travellers are unhappy in every class (under 12%), even in Business class. This means the problem for leisure travellers is not only seat class. Their expectations around price, booking and in-flight experience are not being met.</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specific groups of passengers should the airline prioritise for improvement?</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17"/>
          <p:cNvPicPr>
            <a:picLocks noChangeAspect="1"/>
          </p:cNvPicPr>
          <p:nvPr/>
        </p:nvPicPr>
        <p:blipFill>
          <a:blip r:embed="rId3"/>
          <a:stretch>
            <a:fillRect/>
          </a:stretch>
        </p:blipFill>
        <p:spPr>
          <a:xfrm>
            <a:off x="594360" y="2756109"/>
            <a:ext cx="4937760" cy="1071462"/>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The least satisfied group is personal travellers in Economy, which is also a very large group (32,821 passengers at 10.16% satisfied). First-time business travellers in Economy are the next priority (14.37%). Focusing on these two large groups would raise the overall satisfaction rate the most.</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Can a manager get a one-click performance report for any airline by entering its code?</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18"/>
          <p:cNvPicPr>
            <a:picLocks noChangeAspect="1"/>
          </p:cNvPicPr>
          <p:nvPr/>
        </p:nvPicPr>
        <p:blipFill>
          <a:blip r:embed="rId3"/>
          <a:stretch>
            <a:fillRect/>
          </a:stretch>
        </p:blipFill>
        <p:spPr>
          <a:xfrm>
            <a:off x="594360" y="2251223"/>
            <a:ext cx="4937760" cy="588705"/>
          </a:xfrm>
          <a:prstGeom prst="rect">
            <a:avLst/>
          </a:prstGeom>
        </p:spPr>
      </p:pic>
      <p:pic>
        <p:nvPicPr>
          <p:cNvPr id="9" name="Image 1" descr="SQL result 19"/>
          <p:cNvPicPr>
            <a:picLocks noChangeAspect="1"/>
          </p:cNvPicPr>
          <p:nvPr/>
        </p:nvPicPr>
        <p:blipFill>
          <a:blip r:embed="rId4"/>
          <a:stretch>
            <a:fillRect/>
          </a:stretch>
        </p:blipFill>
        <p:spPr>
          <a:xfrm>
            <a:off x="605398" y="2949655"/>
            <a:ext cx="4915684" cy="684369"/>
          </a:xfrm>
          <a:prstGeom prst="rect">
            <a:avLst/>
          </a:prstGeom>
        </p:spPr>
      </p:pic>
      <p:pic>
        <p:nvPicPr>
          <p:cNvPr id="10" name="Image 2" descr="SQL result 20"/>
          <p:cNvPicPr>
            <a:picLocks noChangeAspect="1"/>
          </p:cNvPicPr>
          <p:nvPr/>
        </p:nvPicPr>
        <p:blipFill>
          <a:blip r:embed="rId5"/>
          <a:stretch>
            <a:fillRect/>
          </a:stretch>
        </p:blipFill>
        <p:spPr>
          <a:xfrm>
            <a:off x="745216" y="3743753"/>
            <a:ext cx="4636049" cy="588705"/>
          </a:xfrm>
          <a:prstGeom prst="rect">
            <a:avLst/>
          </a:prstGeom>
        </p:spPr>
      </p:pic>
      <p:sp>
        <p:nvSpPr>
          <p:cNvPr id="11"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2"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3"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One procedure now produces a full reliability report for any airline from its two-letter code, so managers do not need to rewrite SQL. It also compares the airlines directly: Spirit's delay rate (28.79%) is more than twice Hawaiian's (10.53%).</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Did the indexes actually make queries faster?</a:t>
            </a:r>
            <a:endParaRPr lang="en-US" sz="1600" dirty="0"/>
          </a:p>
        </p:txBody>
      </p:sp>
      <p:sp>
        <p:nvSpPr>
          <p:cNvPr id="6" name="Shape 4"/>
          <p:cNvSpPr/>
          <p:nvPr/>
        </p:nvSpPr>
        <p:spPr>
          <a:xfrm>
            <a:off x="457200" y="1737360"/>
            <a:ext cx="8229600" cy="2240280"/>
          </a:xfrm>
          <a:prstGeom prst="roundRect">
            <a:avLst>
              <a:gd name="adj" fmla="val 3265"/>
            </a:avLst>
          </a:prstGeom>
          <a:solidFill>
            <a:srgbClr val="FFFFFF"/>
          </a:solidFill>
          <a:ln w="9525">
            <a:solidFill>
              <a:srgbClr val="DDE3EA"/>
            </a:solidFill>
            <a:prstDash val="solid"/>
          </a:ln>
        </p:spPr>
      </p:sp>
      <p:sp>
        <p:nvSpPr>
          <p:cNvPr id="7" name="Text 5"/>
          <p:cNvSpPr txBox="1"/>
          <p:nvPr/>
        </p:nvSpPr>
        <p:spPr>
          <a:xfrm>
            <a:off x="640080" y="1828800"/>
            <a:ext cx="2743200" cy="201168"/>
          </a:xfrm>
          <a:prstGeom prst="rect">
            <a:avLst/>
          </a:prstGeom>
          <a:noFill/>
          <a:ln/>
        </p:spPr>
        <p:txBody>
          <a:bodyPr wrap="square" lIns="0" tIns="0" rIns="0" bIns="0" rtlCol="0" anchor="ctr"/>
          <a:lstStyle/>
          <a:p>
            <a:pPr marL="0" indent="0">
              <a:buNone/>
            </a:pPr>
            <a:r>
              <a:rPr lang="en-US" sz="1000" b="1" dirty="0">
                <a:solidFill>
                  <a:srgbClr val="6B7280"/>
                </a:solidFill>
                <a:latin typeface="Calibri" pitchFamily="34" charset="0"/>
                <a:ea typeface="Calibri" pitchFamily="34" charset="-122"/>
                <a:cs typeface="Calibri" pitchFamily="34" charset="-120"/>
              </a:rPr>
              <a:t>With index</a:t>
            </a:r>
            <a:endParaRPr lang="en-US" sz="1000" dirty="0"/>
          </a:p>
        </p:txBody>
      </p:sp>
      <p:pic>
        <p:nvPicPr>
          <p:cNvPr id="8" name="Image 0" descr="SQL result 21"/>
          <p:cNvPicPr>
            <a:picLocks noChangeAspect="1"/>
          </p:cNvPicPr>
          <p:nvPr/>
        </p:nvPicPr>
        <p:blipFill>
          <a:blip r:embed="rId3"/>
          <a:stretch>
            <a:fillRect/>
          </a:stretch>
        </p:blipFill>
        <p:spPr>
          <a:xfrm>
            <a:off x="640080" y="2103120"/>
            <a:ext cx="1061693" cy="468568"/>
          </a:xfrm>
          <a:prstGeom prst="rect">
            <a:avLst/>
          </a:prstGeom>
        </p:spPr>
      </p:pic>
      <p:pic>
        <p:nvPicPr>
          <p:cNvPr id="9" name="Image 1" descr="SQL result 22"/>
          <p:cNvPicPr>
            <a:picLocks noChangeAspect="1"/>
          </p:cNvPicPr>
          <p:nvPr/>
        </p:nvPicPr>
        <p:blipFill>
          <a:blip r:embed="rId4"/>
          <a:stretch>
            <a:fillRect/>
          </a:stretch>
        </p:blipFill>
        <p:spPr>
          <a:xfrm>
            <a:off x="1930373" y="2103120"/>
            <a:ext cx="5729581" cy="510087"/>
          </a:xfrm>
          <a:prstGeom prst="rect">
            <a:avLst/>
          </a:prstGeom>
        </p:spPr>
      </p:pic>
      <p:sp>
        <p:nvSpPr>
          <p:cNvPr id="10" name="Text 6"/>
          <p:cNvSpPr txBox="1"/>
          <p:nvPr/>
        </p:nvSpPr>
        <p:spPr>
          <a:xfrm>
            <a:off x="640080" y="2926080"/>
            <a:ext cx="2743200" cy="201168"/>
          </a:xfrm>
          <a:prstGeom prst="rect">
            <a:avLst/>
          </a:prstGeom>
          <a:noFill/>
          <a:ln/>
        </p:spPr>
        <p:txBody>
          <a:bodyPr wrap="square" lIns="0" tIns="0" rIns="0" bIns="0" rtlCol="0" anchor="ctr"/>
          <a:lstStyle/>
          <a:p>
            <a:pPr marL="0" indent="0">
              <a:buNone/>
            </a:pPr>
            <a:r>
              <a:rPr lang="en-US" sz="1000" b="1" dirty="0">
                <a:solidFill>
                  <a:srgbClr val="6B7280"/>
                </a:solidFill>
                <a:latin typeface="Calibri" pitchFamily="34" charset="0"/>
                <a:ea typeface="Calibri" pitchFamily="34" charset="-122"/>
                <a:cs typeface="Calibri" pitchFamily="34" charset="-120"/>
              </a:rPr>
              <a:t>Without index</a:t>
            </a:r>
            <a:endParaRPr lang="en-US" sz="1000" dirty="0"/>
          </a:p>
        </p:txBody>
      </p:sp>
      <p:pic>
        <p:nvPicPr>
          <p:cNvPr id="11" name="Image 2" descr="SQL result 23"/>
          <p:cNvPicPr>
            <a:picLocks noChangeAspect="1"/>
          </p:cNvPicPr>
          <p:nvPr/>
        </p:nvPicPr>
        <p:blipFill>
          <a:blip r:embed="rId5"/>
          <a:stretch>
            <a:fillRect/>
          </a:stretch>
        </p:blipFill>
        <p:spPr>
          <a:xfrm>
            <a:off x="640080" y="3200400"/>
            <a:ext cx="993780" cy="448804"/>
          </a:xfrm>
          <a:prstGeom prst="rect">
            <a:avLst/>
          </a:prstGeom>
        </p:spPr>
      </p:pic>
      <p:pic>
        <p:nvPicPr>
          <p:cNvPr id="12" name="Image 3" descr="SQL result 24"/>
          <p:cNvPicPr>
            <a:picLocks noChangeAspect="1"/>
          </p:cNvPicPr>
          <p:nvPr/>
        </p:nvPicPr>
        <p:blipFill>
          <a:blip r:embed="rId6"/>
          <a:stretch>
            <a:fillRect/>
          </a:stretch>
        </p:blipFill>
        <p:spPr>
          <a:xfrm>
            <a:off x="1862460" y="3200400"/>
            <a:ext cx="5725457" cy="506507"/>
          </a:xfrm>
          <a:prstGeom prst="rect">
            <a:avLst/>
          </a:prstGeom>
        </p:spPr>
      </p:pic>
      <p:sp>
        <p:nvSpPr>
          <p:cNvPr id="13" name="Shape 7"/>
          <p:cNvSpPr/>
          <p:nvPr/>
        </p:nvSpPr>
        <p:spPr>
          <a:xfrm>
            <a:off x="457200" y="4041648"/>
            <a:ext cx="8229600" cy="621792"/>
          </a:xfrm>
          <a:prstGeom prst="roundRect">
            <a:avLst>
              <a:gd name="adj" fmla="val 11765"/>
            </a:avLst>
          </a:prstGeom>
          <a:solidFill>
            <a:srgbClr val="F3F6FA"/>
          </a:solidFill>
          <a:ln w="9525">
            <a:solidFill>
              <a:srgbClr val="DDE3EA"/>
            </a:solidFill>
            <a:prstDash val="solid"/>
          </a:ln>
        </p:spPr>
      </p:sp>
      <p:sp>
        <p:nvSpPr>
          <p:cNvPr id="14" name="Text 8"/>
          <p:cNvSpPr txBox="1"/>
          <p:nvPr/>
        </p:nvSpPr>
        <p:spPr>
          <a:xfrm>
            <a:off x="640080" y="4041648"/>
            <a:ext cx="7863840" cy="621792"/>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Insight:  </a:t>
            </a:r>
            <a:r>
              <a:rPr lang="en-US" sz="1000" dirty="0">
                <a:solidFill>
                  <a:srgbClr val="1F2937"/>
                </a:solidFill>
                <a:latin typeface="Calibri" pitchFamily="34" charset="0"/>
                <a:ea typeface="Calibri" pitchFamily="34" charset="-122"/>
                <a:cs typeface="Calibri" pitchFamily="34" charset="-120"/>
              </a:rPr>
              <a:t>With the airline index, MySQL used idx_f_airline (type ref) and estimated about 1.88 million rows. Without it, MySQL ran a full table scan (type ALL) over an estimated 5.69 million rows. Indexing the filter columns therefore cuts the work MySQL must do on a 5.8-million-row table.</a:t>
            </a:r>
            <a:endParaRPr lang="en-US" sz="10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How does each airline perform on cancellations, delays and departure delay in one table?</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27"/>
          <p:cNvPicPr>
            <a:picLocks noChangeAspect="1"/>
          </p:cNvPicPr>
          <p:nvPr/>
        </p:nvPicPr>
        <p:blipFill>
          <a:blip r:embed="rId3"/>
          <a:stretch>
            <a:fillRect/>
          </a:stretch>
        </p:blipFill>
        <p:spPr>
          <a:xfrm>
            <a:off x="594360" y="2074172"/>
            <a:ext cx="4937760" cy="2435335"/>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Hawaiian Airlines is the strongest performer overall, with only 10.53% of flights delayed and 0.22% cancelled. Spirit has the highest delay rate at 28.79%, while American Eagle has the highest cancellation rate at 5.10%. Delays and cancellations do not always go together: Spirit is late often but cancels relatively few flights (1.71%), whereas American Eagle cancels the most but is not the worst for delays. Each airline therefore needs its own improvement plan.</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How do flight volume, cancellations and delays change over the year?</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28"/>
          <p:cNvPicPr>
            <a:picLocks noChangeAspect="1"/>
          </p:cNvPicPr>
          <p:nvPr/>
        </p:nvPicPr>
        <p:blipFill>
          <a:blip r:embed="rId3"/>
          <a:stretch>
            <a:fillRect/>
          </a:stretch>
        </p:blipFill>
        <p:spPr>
          <a:xfrm>
            <a:off x="1277711" y="2057400"/>
            <a:ext cx="3571059" cy="2468880"/>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Performance is strongly seasonal. February has the highest cancellation rate (4.78%), and June has the highest delay rate (22.73%), followed by February (22.52%). September and October are the most reliable months, with about 12% of flights delayed and cancellations at or below 0.5%. Flight volume stays fairly steady through the year (roughly 430,000 to 520,000 flights per month), so the swings are not explained by traffic alone. They likely reflect winter storms in the early months and summer thunderstorms plus peak travel in June.</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How satisfied are passengers by class, travel purpose and customer type?</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29"/>
          <p:cNvPicPr>
            <a:picLocks noChangeAspect="1"/>
          </p:cNvPicPr>
          <p:nvPr/>
        </p:nvPicPr>
        <p:blipFill>
          <a:blip r:embed="rId3"/>
          <a:stretch>
            <a:fillRect/>
          </a:stretch>
        </p:blipFill>
        <p:spPr>
          <a:xfrm>
            <a:off x="594360" y="2133084"/>
            <a:ext cx="4937760" cy="2317511"/>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Satisfaction depends heavily on who the passenger is. Business class passengers are 69.44% satisfied, compared with 24.64% in Economy Plus and only 18.77% in Economy. Business travellers (58.37%) are far happier than personal travellers (10.13%), and returning customers (47.81%) are about twice as satisfied as first-time customers (23.97%). The weakest groups are also the largest: Economy has 58,309 passengers and personal travel has 40,187, so improving their experience would lift the overall satisfaction rate (43.45%) the most.</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4" name="Shape 2"/>
          <p:cNvSpPr/>
          <p:nvPr/>
        </p:nvSpPr>
        <p:spPr>
          <a:xfrm>
            <a:off x="457200" y="594360"/>
            <a:ext cx="8229600" cy="777240"/>
          </a:xfrm>
          <a:prstGeom prst="roundRect">
            <a:avLst>
              <a:gd name="adj" fmla="val 13333"/>
            </a:avLst>
          </a:prstGeom>
          <a:solidFill>
            <a:srgbClr val="E8F5F3"/>
          </a:solidFill>
          <a:ln w="9525">
            <a:solidFill>
              <a:srgbClr val="DDE3EA"/>
            </a:solidFill>
            <a:prstDash val="solid"/>
          </a:ln>
        </p:spPr>
      </p:sp>
      <p:sp>
        <p:nvSpPr>
          <p:cNvPr id="5" name="Text 3"/>
          <p:cNvSpPr txBox="1"/>
          <p:nvPr/>
        </p:nvSpPr>
        <p:spPr>
          <a:xfrm>
            <a:off x="640080" y="594360"/>
            <a:ext cx="7863840" cy="77724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Key question:  </a:t>
            </a:r>
            <a:r>
              <a:rPr lang="en-US" sz="1600" dirty="0">
                <a:solidFill>
                  <a:srgbClr val="1F2937"/>
                </a:solidFill>
                <a:latin typeface="Calibri" pitchFamily="34" charset="0"/>
                <a:ea typeface="Calibri" pitchFamily="34" charset="-122"/>
                <a:cs typeface="Calibri" pitchFamily="34" charset="-120"/>
              </a:rPr>
              <a:t>Which service factors differ the most between satisfied and unsatisfied passengers?</a:t>
            </a:r>
            <a:endParaRPr lang="en-US" sz="1600" dirty="0"/>
          </a:p>
        </p:txBody>
      </p:sp>
      <p:sp>
        <p:nvSpPr>
          <p:cNvPr id="6" name="Shape 4"/>
          <p:cNvSpPr/>
          <p:nvPr/>
        </p:nvSpPr>
        <p:spPr>
          <a:xfrm>
            <a:off x="457200" y="1737360"/>
            <a:ext cx="5212080" cy="2880360"/>
          </a:xfrm>
          <a:prstGeom prst="roundRect">
            <a:avLst>
              <a:gd name="adj" fmla="val 2540"/>
            </a:avLst>
          </a:prstGeom>
          <a:solidFill>
            <a:srgbClr val="FFFFFF"/>
          </a:solidFill>
          <a:ln w="9525">
            <a:solidFill>
              <a:srgbClr val="DDE3EA"/>
            </a:solidFill>
            <a:prstDash val="solid"/>
          </a:ln>
        </p:spPr>
      </p:sp>
      <p:sp>
        <p:nvSpPr>
          <p:cNvPr id="7" name="Text 5"/>
          <p:cNvSpPr txBox="1"/>
          <p:nvPr/>
        </p:nvSpPr>
        <p:spPr>
          <a:xfrm>
            <a:off x="640080" y="1801368"/>
            <a:ext cx="18288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Result</a:t>
            </a:r>
            <a:endParaRPr lang="en-US" sz="1000" dirty="0"/>
          </a:p>
        </p:txBody>
      </p:sp>
      <p:pic>
        <p:nvPicPr>
          <p:cNvPr id="8" name="Image 0" descr="SQL result 26"/>
          <p:cNvPicPr>
            <a:picLocks noChangeAspect="1"/>
          </p:cNvPicPr>
          <p:nvPr/>
        </p:nvPicPr>
        <p:blipFill>
          <a:blip r:embed="rId3"/>
          <a:stretch>
            <a:fillRect/>
          </a:stretch>
        </p:blipFill>
        <p:spPr>
          <a:xfrm>
            <a:off x="608114" y="2057400"/>
            <a:ext cx="4910252" cy="2468880"/>
          </a:xfrm>
          <a:prstGeom prst="rect">
            <a:avLst/>
          </a:prstGeom>
        </p:spPr>
      </p:pic>
      <p:sp>
        <p:nvSpPr>
          <p:cNvPr id="9" name="Shape 6"/>
          <p:cNvSpPr/>
          <p:nvPr/>
        </p:nvSpPr>
        <p:spPr>
          <a:xfrm>
            <a:off x="5852160" y="1737360"/>
            <a:ext cx="2834640" cy="2880360"/>
          </a:xfrm>
          <a:prstGeom prst="roundRect">
            <a:avLst>
              <a:gd name="adj" fmla="val 2581"/>
            </a:avLst>
          </a:prstGeom>
          <a:solidFill>
            <a:srgbClr val="F3F6FA"/>
          </a:solidFill>
          <a:ln w="9525">
            <a:solidFill>
              <a:srgbClr val="DDE3EA"/>
            </a:solidFill>
            <a:prstDash val="solid"/>
          </a:ln>
        </p:spPr>
      </p:sp>
      <p:sp>
        <p:nvSpPr>
          <p:cNvPr id="10" name="Text 7"/>
          <p:cNvSpPr txBox="1"/>
          <p:nvPr/>
        </p:nvSpPr>
        <p:spPr>
          <a:xfrm>
            <a:off x="6035040" y="1828800"/>
            <a:ext cx="2468880" cy="274320"/>
          </a:xfrm>
          <a:prstGeom prst="rect">
            <a:avLst/>
          </a:prstGeom>
          <a:noFill/>
          <a:ln/>
        </p:spPr>
        <p:txBody>
          <a:bodyPr wrap="square" lIns="0" tIns="0" rIns="0" bIns="0" rtlCol="0" anchor="ctr"/>
          <a:lstStyle/>
          <a:p>
            <a:pPr marL="0" indent="0">
              <a:buNone/>
            </a:pPr>
            <a:r>
              <a:rPr lang="en-US" sz="1400" b="1" dirty="0">
                <a:solidFill>
                  <a:srgbClr val="1B998B"/>
                </a:solidFill>
                <a:latin typeface="Calibri" pitchFamily="34" charset="0"/>
                <a:ea typeface="Calibri" pitchFamily="34" charset="-122"/>
                <a:cs typeface="Calibri" pitchFamily="34" charset="-120"/>
              </a:rPr>
              <a:t>Insight</a:t>
            </a:r>
            <a:endParaRPr lang="en-US" sz="1400" dirty="0"/>
          </a:p>
        </p:txBody>
      </p:sp>
      <p:sp>
        <p:nvSpPr>
          <p:cNvPr id="11" name="Text 8"/>
          <p:cNvSpPr txBox="1"/>
          <p:nvPr/>
        </p:nvSpPr>
        <p:spPr>
          <a:xfrm>
            <a:off x="6035040" y="2194560"/>
            <a:ext cx="2468880" cy="23317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Online boarding is the biggest driver of satisfaction. Satisfied passengers rate it 4.15 on average, while unsatisfied passengers rate it 2.71, a gap of 1.44 points. In-flight entertainment (gap 1.07), in-flight wifi (0.99), seat comfort (0.93) and on-board service (0.84) follow. Gate location and departure/arrival time convenience show almost no gap, so they do not explain who is satisfied. The airline should prioritise digital boarding, entertainment and wifi.</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Power BI dashboard: operations</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31</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pic>
        <p:nvPicPr>
          <p:cNvPr id="4" name="Image 0" descr="Operations dashboard"/>
          <p:cNvPicPr>
            <a:picLocks noChangeAspect="1"/>
          </p:cNvPicPr>
          <p:nvPr/>
        </p:nvPicPr>
        <p:blipFill>
          <a:blip r:embed="rId3"/>
          <a:stretch>
            <a:fillRect/>
          </a:stretch>
        </p:blipFill>
        <p:spPr>
          <a:xfrm>
            <a:off x="457200" y="1143000"/>
            <a:ext cx="5669280" cy="3433572"/>
          </a:xfrm>
          <a:prstGeom prst="rect">
            <a:avLst/>
          </a:prstGeom>
        </p:spPr>
      </p:pic>
      <p:sp>
        <p:nvSpPr>
          <p:cNvPr id="5" name="Text 2"/>
          <p:cNvSpPr txBox="1"/>
          <p:nvPr/>
        </p:nvSpPr>
        <p:spPr>
          <a:xfrm>
            <a:off x="6355080" y="1234440"/>
            <a:ext cx="2331720" cy="32004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Cards show total flights and the cancellation rate</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Airline charts rank delays and cancellations</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Line chart shows the monthly trend: February and June peaks</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Built on SQL views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Power BI dashboard: customers</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32</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pic>
        <p:nvPicPr>
          <p:cNvPr id="4" name="Image 0" descr="Customer satisfaction dashboard"/>
          <p:cNvPicPr>
            <a:picLocks noChangeAspect="1"/>
          </p:cNvPicPr>
          <p:nvPr/>
        </p:nvPicPr>
        <p:blipFill>
          <a:blip r:embed="rId3"/>
          <a:stretch>
            <a:fillRect/>
          </a:stretch>
        </p:blipFill>
        <p:spPr>
          <a:xfrm>
            <a:off x="457200" y="1143000"/>
            <a:ext cx="5669280" cy="2693822"/>
          </a:xfrm>
          <a:prstGeom prst="rect">
            <a:avLst/>
          </a:prstGeom>
        </p:spPr>
      </p:pic>
      <p:sp>
        <p:nvSpPr>
          <p:cNvPr id="5" name="Text 2"/>
          <p:cNvSpPr txBox="1"/>
          <p:nvPr/>
        </p:nvSpPr>
        <p:spPr>
          <a:xfrm>
            <a:off x="6355080" y="1234440"/>
            <a:ext cx="2331720" cy="27432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Overall satisfaction card: 43.45%</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Slicer switches between class, customer type and travel purpose</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Driver chart ranks 14 service factors by rating gap</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Power BI dashboard: travel purpose</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33</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pic>
        <p:nvPicPr>
          <p:cNvPr id="4" name="Image 0" descr="Dashboard filtered by travel purpose"/>
          <p:cNvPicPr>
            <a:picLocks noChangeAspect="1"/>
          </p:cNvPicPr>
          <p:nvPr/>
        </p:nvPicPr>
        <p:blipFill>
          <a:blip r:embed="rId2"/>
          <a:stretch>
            <a:fillRect/>
          </a:stretch>
        </p:blipFill>
        <p:spPr>
          <a:xfrm>
            <a:off x="457200" y="1143000"/>
            <a:ext cx="5669280" cy="2647647"/>
          </a:xfrm>
          <a:prstGeom prst="rect">
            <a:avLst/>
          </a:prstGeom>
        </p:spPr>
      </p:pic>
      <p:sp>
        <p:nvSpPr>
          <p:cNvPr id="5" name="Text 2"/>
          <p:cNvSpPr txBox="1"/>
          <p:nvPr/>
        </p:nvSpPr>
        <p:spPr>
          <a:xfrm>
            <a:off x="6355080" y="1234440"/>
            <a:ext cx="2331720" cy="27432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Slicer set to Travel purpose</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Business travellers: 58% satisfied</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Personal travellers: only 10% satisfied</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Power BI dashboard: customer type</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34</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pic>
        <p:nvPicPr>
          <p:cNvPr id="4" name="Image 0" descr="Dashboard filtered by customer type"/>
          <p:cNvPicPr>
            <a:picLocks noChangeAspect="1"/>
          </p:cNvPicPr>
          <p:nvPr/>
        </p:nvPicPr>
        <p:blipFill>
          <a:blip r:embed="rId2"/>
          <a:stretch>
            <a:fillRect/>
          </a:stretch>
        </p:blipFill>
        <p:spPr>
          <a:xfrm>
            <a:off x="457200" y="1143000"/>
            <a:ext cx="5669280" cy="2592527"/>
          </a:xfrm>
          <a:prstGeom prst="rect">
            <a:avLst/>
          </a:prstGeom>
        </p:spPr>
      </p:pic>
      <p:sp>
        <p:nvSpPr>
          <p:cNvPr id="5" name="Text 2"/>
          <p:cNvSpPr txBox="1"/>
          <p:nvPr/>
        </p:nvSpPr>
        <p:spPr>
          <a:xfrm>
            <a:off x="6355080" y="1234440"/>
            <a:ext cx="2331720" cy="27432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Slicer set to Customer type</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Returning customers: 48% satisfied</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First-time customers: only 24% satisfied</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Recommendations</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35</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sp>
        <p:nvSpPr>
          <p:cNvPr id="4" name="Shape 2"/>
          <p:cNvSpPr/>
          <p:nvPr/>
        </p:nvSpPr>
        <p:spPr>
          <a:xfrm>
            <a:off x="457200" y="1188720"/>
            <a:ext cx="4023360" cy="1600200"/>
          </a:xfrm>
          <a:prstGeom prst="roundRect">
            <a:avLst>
              <a:gd name="adj" fmla="val 4571"/>
            </a:avLst>
          </a:prstGeom>
          <a:solidFill>
            <a:srgbClr val="F3F6FA"/>
          </a:solidFill>
          <a:ln w="9525">
            <a:solidFill>
              <a:srgbClr val="DDE3EA"/>
            </a:solidFill>
            <a:prstDash val="solid"/>
          </a:ln>
        </p:spPr>
      </p:sp>
      <p:sp>
        <p:nvSpPr>
          <p:cNvPr id="5" name="Shape 3"/>
          <p:cNvSpPr/>
          <p:nvPr/>
        </p:nvSpPr>
        <p:spPr>
          <a:xfrm>
            <a:off x="640080" y="1371600"/>
            <a:ext cx="411480" cy="411480"/>
          </a:xfrm>
          <a:prstGeom prst="ellipse">
            <a:avLst/>
          </a:prstGeom>
          <a:solidFill>
            <a:srgbClr val="1B998B"/>
          </a:solidFill>
          <a:ln w="12700">
            <a:solidFill>
              <a:srgbClr val="1B998B"/>
            </a:solidFill>
            <a:prstDash val="solid"/>
          </a:ln>
        </p:spPr>
      </p:sp>
      <p:sp>
        <p:nvSpPr>
          <p:cNvPr id="6" name="Text 4"/>
          <p:cNvSpPr txBox="1"/>
          <p:nvPr/>
        </p:nvSpPr>
        <p:spPr>
          <a:xfrm>
            <a:off x="640080" y="13716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88720" y="1371600"/>
            <a:ext cx="310896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Reduce avoidable cancellations</a:t>
            </a:r>
            <a:endParaRPr lang="en-US" sz="1400" dirty="0"/>
          </a:p>
        </p:txBody>
      </p:sp>
      <p:sp>
        <p:nvSpPr>
          <p:cNvPr id="8" name="Text 6"/>
          <p:cNvSpPr txBox="1"/>
          <p:nvPr/>
        </p:nvSpPr>
        <p:spPr>
          <a:xfrm>
            <a:off x="640080" y="1920240"/>
            <a:ext cx="3657600" cy="82296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28.1% of cancellations are airline-caused. Strengthen crew planning, maintenance scheduling and standby capacity, starting with regional carriers such as American Eagle (5.10%).</a:t>
            </a:r>
            <a:endParaRPr lang="en-US" sz="1250" dirty="0"/>
          </a:p>
        </p:txBody>
      </p:sp>
      <p:sp>
        <p:nvSpPr>
          <p:cNvPr id="9" name="Shape 7"/>
          <p:cNvSpPr/>
          <p:nvPr/>
        </p:nvSpPr>
        <p:spPr>
          <a:xfrm>
            <a:off x="4663440" y="1188720"/>
            <a:ext cx="4023360" cy="1600200"/>
          </a:xfrm>
          <a:prstGeom prst="roundRect">
            <a:avLst>
              <a:gd name="adj" fmla="val 4571"/>
            </a:avLst>
          </a:prstGeom>
          <a:solidFill>
            <a:srgbClr val="F3F6FA"/>
          </a:solidFill>
          <a:ln w="9525">
            <a:solidFill>
              <a:srgbClr val="DDE3EA"/>
            </a:solidFill>
            <a:prstDash val="solid"/>
          </a:ln>
        </p:spPr>
      </p:sp>
      <p:sp>
        <p:nvSpPr>
          <p:cNvPr id="10" name="Shape 8"/>
          <p:cNvSpPr/>
          <p:nvPr/>
        </p:nvSpPr>
        <p:spPr>
          <a:xfrm>
            <a:off x="4846320" y="1371600"/>
            <a:ext cx="411480" cy="411480"/>
          </a:xfrm>
          <a:prstGeom prst="ellipse">
            <a:avLst/>
          </a:prstGeom>
          <a:solidFill>
            <a:srgbClr val="1B998B"/>
          </a:solidFill>
          <a:ln w="12700">
            <a:solidFill>
              <a:srgbClr val="1B998B"/>
            </a:solidFill>
            <a:prstDash val="solid"/>
          </a:ln>
        </p:spPr>
      </p:sp>
      <p:sp>
        <p:nvSpPr>
          <p:cNvPr id="11" name="Text 9"/>
          <p:cNvSpPr txBox="1"/>
          <p:nvPr/>
        </p:nvSpPr>
        <p:spPr>
          <a:xfrm>
            <a:off x="4846320" y="13716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5394960" y="1371600"/>
            <a:ext cx="310896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Plan for season and time of day</a:t>
            </a:r>
            <a:endParaRPr lang="en-US" sz="1400" dirty="0"/>
          </a:p>
        </p:txBody>
      </p:sp>
      <p:sp>
        <p:nvSpPr>
          <p:cNvPr id="13" name="Text 11"/>
          <p:cNvSpPr txBox="1"/>
          <p:nvPr/>
        </p:nvSpPr>
        <p:spPr>
          <a:xfrm>
            <a:off x="4846320" y="1920240"/>
            <a:ext cx="3657600" cy="82296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February cancellations reach 4.78% and June delays 22.73%. Add buffers and standby crews, and add slack to afternoon and evening schedules.</a:t>
            </a:r>
            <a:endParaRPr lang="en-US" sz="1250" dirty="0"/>
          </a:p>
        </p:txBody>
      </p:sp>
      <p:sp>
        <p:nvSpPr>
          <p:cNvPr id="14" name="Shape 12"/>
          <p:cNvSpPr/>
          <p:nvPr/>
        </p:nvSpPr>
        <p:spPr>
          <a:xfrm>
            <a:off x="457200" y="2926080"/>
            <a:ext cx="4023360" cy="1600200"/>
          </a:xfrm>
          <a:prstGeom prst="roundRect">
            <a:avLst>
              <a:gd name="adj" fmla="val 4571"/>
            </a:avLst>
          </a:prstGeom>
          <a:solidFill>
            <a:srgbClr val="F3F6FA"/>
          </a:solidFill>
          <a:ln w="9525">
            <a:solidFill>
              <a:srgbClr val="DDE3EA"/>
            </a:solidFill>
            <a:prstDash val="solid"/>
          </a:ln>
        </p:spPr>
      </p:sp>
      <p:sp>
        <p:nvSpPr>
          <p:cNvPr id="15" name="Shape 13"/>
          <p:cNvSpPr/>
          <p:nvPr/>
        </p:nvSpPr>
        <p:spPr>
          <a:xfrm>
            <a:off x="640080" y="3108960"/>
            <a:ext cx="411480" cy="411480"/>
          </a:xfrm>
          <a:prstGeom prst="ellipse">
            <a:avLst/>
          </a:prstGeom>
          <a:solidFill>
            <a:srgbClr val="1B998B"/>
          </a:solidFill>
          <a:ln w="12700">
            <a:solidFill>
              <a:srgbClr val="1B998B"/>
            </a:solidFill>
            <a:prstDash val="solid"/>
          </a:ln>
        </p:spPr>
      </p:sp>
      <p:sp>
        <p:nvSpPr>
          <p:cNvPr id="16" name="Text 14"/>
          <p:cNvSpPr txBox="1"/>
          <p:nvPr/>
        </p:nvSpPr>
        <p:spPr>
          <a:xfrm>
            <a:off x="640080" y="31089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188720" y="3108960"/>
            <a:ext cx="310896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Fix aircraft turnaround</a:t>
            </a:r>
            <a:endParaRPr lang="en-US" sz="1400" dirty="0"/>
          </a:p>
        </p:txBody>
      </p:sp>
      <p:sp>
        <p:nvSpPr>
          <p:cNvPr id="18" name="Text 16"/>
          <p:cNvSpPr txBox="1"/>
          <p:nvPr/>
        </p:nvSpPr>
        <p:spPr>
          <a:xfrm>
            <a:off x="640080" y="3657600"/>
            <a:ext cx="3657600" cy="82296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Late-arriving aircraft and airline operations explain about 72% of delay minutes. Better turnaround planning is the biggest lever.</a:t>
            </a:r>
            <a:endParaRPr lang="en-US" sz="1250" dirty="0"/>
          </a:p>
        </p:txBody>
      </p:sp>
      <p:sp>
        <p:nvSpPr>
          <p:cNvPr id="19" name="Shape 17"/>
          <p:cNvSpPr/>
          <p:nvPr/>
        </p:nvSpPr>
        <p:spPr>
          <a:xfrm>
            <a:off x="4663440" y="2926080"/>
            <a:ext cx="4023360" cy="1600200"/>
          </a:xfrm>
          <a:prstGeom prst="roundRect">
            <a:avLst>
              <a:gd name="adj" fmla="val 4571"/>
            </a:avLst>
          </a:prstGeom>
          <a:solidFill>
            <a:srgbClr val="F3F6FA"/>
          </a:solidFill>
          <a:ln w="9525">
            <a:solidFill>
              <a:srgbClr val="DDE3EA"/>
            </a:solidFill>
            <a:prstDash val="solid"/>
          </a:ln>
        </p:spPr>
      </p:sp>
      <p:sp>
        <p:nvSpPr>
          <p:cNvPr id="20" name="Shape 18"/>
          <p:cNvSpPr/>
          <p:nvPr/>
        </p:nvSpPr>
        <p:spPr>
          <a:xfrm>
            <a:off x="4846320" y="3108960"/>
            <a:ext cx="411480" cy="411480"/>
          </a:xfrm>
          <a:prstGeom prst="ellipse">
            <a:avLst/>
          </a:prstGeom>
          <a:solidFill>
            <a:srgbClr val="1B998B"/>
          </a:solidFill>
          <a:ln w="12700">
            <a:solidFill>
              <a:srgbClr val="1B998B"/>
            </a:solidFill>
            <a:prstDash val="solid"/>
          </a:ln>
        </p:spPr>
      </p:sp>
      <p:sp>
        <p:nvSpPr>
          <p:cNvPr id="21" name="Text 19"/>
          <p:cNvSpPr txBox="1"/>
          <p:nvPr/>
        </p:nvSpPr>
        <p:spPr>
          <a:xfrm>
            <a:off x="4846320" y="31089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5394960" y="3108960"/>
            <a:ext cx="310896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Invest in the digital experience</a:t>
            </a:r>
            <a:endParaRPr lang="en-US" sz="1400" dirty="0"/>
          </a:p>
        </p:txBody>
      </p:sp>
      <p:sp>
        <p:nvSpPr>
          <p:cNvPr id="23" name="Text 21"/>
          <p:cNvSpPr txBox="1"/>
          <p:nvPr/>
        </p:nvSpPr>
        <p:spPr>
          <a:xfrm>
            <a:off x="4846320" y="3657600"/>
            <a:ext cx="3657600" cy="82296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Prioritise online boarding, entertainment and wifi, focusing on Economy, personal and first-time passengers.</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title" idx="102"/>
          </p:nvPr>
        </p:nvSpPr>
        <p:spPr>
          <a:prstGeom prst="rect">
            <a:avLst/>
          </a:prstGeom>
          <a:noFill/>
          <a:ln/>
        </p:spPr>
        <p:txBody>
          <a:bodyPr wrap="square" lIns="0" tIns="0" rIns="0" bIns="0" rtlCol="0" anchor="ctr"/>
          <a:lstStyle/>
          <a:p>
            <a:pPr marL="0" indent="0" algn="l">
              <a:buNone/>
            </a:pPr>
            <a:r>
              <a:rPr lang="en-US" sz="2400" b="1" dirty="0">
                <a:solidFill>
                  <a:srgbClr val="0B2545"/>
                </a:solidFill>
                <a:latin typeface="Calibri" pitchFamily="34" charset="0"/>
                <a:ea typeface="Calibri" pitchFamily="34" charset="-122"/>
                <a:cs typeface="Calibri" pitchFamily="34" charset="-120"/>
              </a:rPr>
              <a:t>Limitations and conclusion</a:t>
            </a:r>
            <a:endParaRPr lang="en-US" sz="2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36</a:t>
            </a:fld>
            <a:endParaRPr lang="en-US"/>
          </a:p>
        </p:txBody>
      </p:sp>
      <p:sp>
        <p:nvSpPr>
          <p:cNvPr id="3" name="Shape 1"/>
          <p:cNvSpPr/>
          <p:nvPr/>
        </p:nvSpPr>
        <p:spPr>
          <a:xfrm>
            <a:off x="457200" y="896112"/>
            <a:ext cx="822960" cy="45720"/>
          </a:xfrm>
          <a:prstGeom prst="rect">
            <a:avLst/>
          </a:prstGeom>
          <a:solidFill>
            <a:srgbClr val="1B998B"/>
          </a:solidFill>
          <a:ln w="12700">
            <a:solidFill>
              <a:srgbClr val="1B998B"/>
            </a:solidFill>
            <a:prstDash val="solid"/>
          </a:ln>
        </p:spPr>
      </p:sp>
      <p:sp>
        <p:nvSpPr>
          <p:cNvPr id="4" name="Shape 2"/>
          <p:cNvSpPr/>
          <p:nvPr/>
        </p:nvSpPr>
        <p:spPr>
          <a:xfrm>
            <a:off x="457200" y="1188720"/>
            <a:ext cx="8229600" cy="2514600"/>
          </a:xfrm>
          <a:prstGeom prst="roundRect">
            <a:avLst>
              <a:gd name="adj" fmla="val 2909"/>
            </a:avLst>
          </a:prstGeom>
          <a:solidFill>
            <a:srgbClr val="F3F6FA"/>
          </a:solidFill>
          <a:ln w="9525">
            <a:solidFill>
              <a:srgbClr val="DDE3EA"/>
            </a:solidFill>
            <a:prstDash val="solid"/>
          </a:ln>
        </p:spPr>
      </p:sp>
      <p:sp>
        <p:nvSpPr>
          <p:cNvPr id="6" name="Text 4"/>
          <p:cNvSpPr txBox="1"/>
          <p:nvPr/>
        </p:nvSpPr>
        <p:spPr>
          <a:xfrm>
            <a:off x="640080" y="1298448"/>
            <a:ext cx="7863840" cy="320040"/>
          </a:xfrm>
          <a:prstGeom prst="rect">
            <a:avLst/>
          </a:prstGeom>
          <a:noFill/>
          <a:ln/>
        </p:spPr>
        <p:txBody>
          <a:bodyPr wrap="square" lIns="0" tIns="0" rIns="0" bIns="0" rtlCol="0" anchor="ctr"/>
          <a:lstStyle/>
          <a:p>
            <a:pPr marL="0" indent="0">
              <a:buNone/>
            </a:pPr>
            <a:r>
              <a:rPr lang="en-US" sz="1500" b="1" dirty="0">
                <a:solidFill>
                  <a:srgbClr val="1B998B"/>
                </a:solidFill>
                <a:latin typeface="Calibri" pitchFamily="34" charset="0"/>
                <a:ea typeface="Calibri" pitchFamily="34" charset="-122"/>
                <a:cs typeface="Calibri" pitchFamily="34" charset="-120"/>
              </a:rPr>
              <a:t>Limitations</a:t>
            </a:r>
            <a:endParaRPr lang="en-US" sz="1500" dirty="0"/>
          </a:p>
        </p:txBody>
      </p:sp>
      <p:sp>
        <p:nvSpPr>
          <p:cNvPr id="7" name="Text 5"/>
          <p:cNvSpPr txBox="1"/>
          <p:nvPr/>
        </p:nvSpPr>
        <p:spPr>
          <a:xfrm>
            <a:off x="640080" y="1691640"/>
            <a:ext cx="7863840" cy="19202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Flight data is from 2015</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Datasets cannot be joined (no airline in survey)</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Delay causes exist only for delayed flights</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Drivers show association, not causation</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Airport analysis excludes 5-digit code rows</a:t>
            </a:r>
            <a:endParaRPr lang="en-US" sz="1300" dirty="0"/>
          </a:p>
        </p:txBody>
      </p:sp>
      <p:sp>
        <p:nvSpPr>
          <p:cNvPr id="10" name="Shape 8"/>
          <p:cNvSpPr/>
          <p:nvPr/>
        </p:nvSpPr>
        <p:spPr>
          <a:xfrm>
            <a:off x="457200" y="3886200"/>
            <a:ext cx="8229600" cy="731520"/>
          </a:xfrm>
          <a:prstGeom prst="roundRect">
            <a:avLst>
              <a:gd name="adj" fmla="val 10000"/>
            </a:avLst>
          </a:prstGeom>
          <a:solidFill>
            <a:srgbClr val="0B2545"/>
          </a:solidFill>
          <a:ln w="9525">
            <a:solidFill>
              <a:srgbClr val="DDE3EA"/>
            </a:solidFill>
            <a:prstDash val="solid"/>
          </a:ln>
        </p:spPr>
      </p:sp>
      <p:sp>
        <p:nvSpPr>
          <p:cNvPr id="11" name="Text 9"/>
          <p:cNvSpPr txBox="1"/>
          <p:nvPr/>
        </p:nvSpPr>
        <p:spPr>
          <a:xfrm>
            <a:off x="640080" y="3886200"/>
            <a:ext cx="7863840" cy="7315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Airlines can improve most by cutting avoidable cancellations, tightening turnaround, and fixing the digital boarding experience.</a:t>
            </a:r>
            <a:endParaRPr lang="en-US" sz="1300" dirty="0"/>
          </a:p>
        </p:txBody>
      </p:sp>
    </p:spTree>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9BAA8FFB-1EEF-49AC-B7FF-0F37799585E9}" vid="{6523F788-A6E6-47B0-B3C7-625411BE5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Orange Experience</Template>
  <TotalTime>9</TotalTime>
  <Words>2681</Words>
  <Application>Microsoft Office PowerPoint</Application>
  <PresentationFormat>On-screen Show (16:9)</PresentationFormat>
  <Paragraphs>262</Paragraphs>
  <Slides>36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Oswald SemiBold</vt:lpstr>
      <vt:lpstr>Univers Condensed Light</vt:lpstr>
      <vt:lpstr>Orange Experience</vt:lpstr>
      <vt:lpstr>PowerPoint Presentation</vt:lpstr>
      <vt:lpstr>Overview</vt:lpstr>
      <vt:lpstr>Introduction</vt:lpstr>
      <vt:lpstr>Problem statement</vt:lpstr>
      <vt:lpstr>Project objectives</vt:lpstr>
      <vt:lpstr>About the data</vt:lpstr>
      <vt:lpstr>Data quality checks and cleaning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 BI dashboard: operations</vt:lpstr>
      <vt:lpstr>Power BI dashboard: customers</vt:lpstr>
      <vt:lpstr>Power BI dashboard: travel purpose</vt:lpstr>
      <vt:lpstr>Power BI dashboard: customer type</vt:lpstr>
      <vt:lpstr>Recommendations</vt:lpstr>
      <vt:lpstr>Limitations and 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Operations &amp; Passenger Satisfaction Analysis</dc:title>
  <dc:subject>PptxGenJS Presentation</dc:subject>
  <dc:creator>Rameshwari Ruplal Sandile</dc:creator>
  <cp:lastModifiedBy>Chetan Sandele</cp:lastModifiedBy>
  <cp:revision>3</cp:revision>
  <dcterms:created xsi:type="dcterms:W3CDTF">2026-10-05T10:03:09Z</dcterms:created>
  <dcterms:modified xsi:type="dcterms:W3CDTF">2026-10-05T10:51:36Z</dcterms:modified>
</cp:coreProperties>
</file>